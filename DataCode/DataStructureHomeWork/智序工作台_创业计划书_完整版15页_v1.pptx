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各位老师好，我们做的是智序工作台——一个打开即用的AI效率工作台。它把个性化导航、多模型AI助手、智能课表、日程备忘和天气整合在同一页面，代码完全开源、数据本地优先。今天从为什么做、做什么、怎么做、怎么活下来，讲到我们需要多少钱把它推到验证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痛点页刻意不放任何市场数字——我们只有诚实的观察：四个入口问题（分散、噪音、AI 悬浮、数据不可控）加一条虚构但典型的时间线。评委要是问「凭什么说这是普遍痛点」，答法：这是我们从自身和身边同学的使用观察出的设计问题，规模验证列为待补充调研（第 8 页已写明访谈与试点计划），我们不拿假设冒充数据。这一页要讲的是「问题长在生活里，不长在报表里」。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方案页给评委一个记忆钩子：三类能力——一页聚合、上下文感知、本地优先，分别在第 4/5/6 页展开，这里只点题。右侧补一句工程事实：一条代码库三种形态，单文件双击即用（这是 README 写的，评委现场就能下载验证）。落点回到价值观：开源免费是信任机制，不是变现障碍，变现路径后面第 10 页讲。整页注意别念细节，三根柱子各一句话就翻页。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这一页回答『产品是什么』。左侧是开源仓库里的真实界面截图（docs 目录，已脱敏）：一张页面里同时有导航、今日课程、日程备忘和天气。右侧五个模块逐个讲：导航是入口，AI 是助手，课表/日程/天气是上下文来源。强调核心观点——智序不是五个小工具的堆叠，而是同一页面、同一份本地数据上的统一工作台；每个面板都可以单独开关，布局随用户习惯。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核心差异点：AI 的上下文。演示四个环节——数据留在本机；「我的日程」开关由用户控制（默认开，可关）；开启后课表、日程、所在城天气作为系统上下文随对话发送，并明确提示模型「缺信息就说不知道」；于是建议能贴着真实日程给。给出三个使用场景示例，请注意讲清楚这是场景演示而非已上线承诺。最后落到安全边界：AI 只提结构化建议不执行，改动需要用户确认。这一段是全场评委最容易追问的地方，语气要克制。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技术方案讲四层：前端三种形态共用一套代码；AI 能力层做接入抽象与上下文组装，只输出建议不执行；真正的工作量在课表解析引擎——5 类 Reader 加统一网格模型加周次推断；底层是本地存储和本地代理。右侧五个方向强调克制：预设未实测就标待验证。底部三个数字务必按证据分级讲：8 种格式可以当场在仓库代码里核对；7 所、22 个是项目方口径，README 公开记录只有部分对应（25 条修复记录、若干院校实测），承诺投资人会在尽调材料里补齐清单与测试文件。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进展页的原则是把话说小、说实：这页所有内容我核对过仓库当前公开状态（2026-10 快照），已实现栏每一条都有代码或 README 实测记录支撑，尽调时可逐条演示。开发中清单仓库里没有官方版本，如实标注待项目方确认，不替队友脑补进度。规划中栏明确是计划书构想。右下角三张小截图同样是仓库真实截图——包括『未配置 AI 时不伪造回复』这张，它本身就是诚实体验的证据。开源生态目前是起步期，我们要讲节奏而不是讲数字。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户这页把姿态摆正：三类用户的分层是清晰的——大学生种子、效率重度用户扩展、院校机会型B端；但市场规模的三个数我一个都报不出来，全部列成『待验证台账』。定位图只是讨论工具：右上角空白确实是机会所在，但『空白』不等于『需求已验证』。种子用户不需要买量：本校同学、GitHub issues、开源社区回流都是免费触点，这一点比 TAM 数字更真实。评委追问规模时，请回答台账里三条计划，而不是临时编一个数。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差异化不喊口号，只讲两个『取舍』：本地优先意味着我们主动放弃了云产品的账号锁定和数据变现；BYOK 意味着我们主动放弃了 AI 差价这块最顺手的收入。正因为我主动放弃了，纯云竞品复制我们要推翻自己的商业模型——这就是结构性的护城河。对标四行说到底是：我们和所有相邻产品都不正面冲突，用互补姿态换信任。注意不要说『领先』或『完胜』，只说差异和取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商业化这页最重要的一句话：现在没有收入，我们不装。现状只有开源免费版，README 明确写了不提供 AI 代付——这是信用分，先亮出来。四条路径按验证顺序讲：先把开源做出口碑和日活；增值服务用小流量验证付费意愿；定制是机会型收入，有单子就接；中转站最重（合规、现金流、运维）、所以排最后。评委问『为什么不全押 B 端』时，答案是学生和用户信任是起点，商业化按验证节奏逐级加码。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先把丑话说在前面：中转站没有上线、没有供应商协议、没有客户，这一页是路径设计不是业绩预告。流程五步走到收费只是骨架，真正的难点在 Q1-Q5：上游转售条款、成本定价簿、密钥托管安全、计费稳定性、隐私协议。特别指出 Q5 与产品「本地优先」原则有张力，我们给出的红线是透明计费、最小数据留存、随时退回 BYOK。投资人如果只看到「差价生意」，这页会把风险摊开给他看，反而加分。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财务这页我们反着讲：先给一个诚实的 0 —— 没有收入、没有用户、没有现金流数据。再给一个『可以被检验的假设模型』：三情景的付费规模、客单价、毛利率、固定成本、CAC 全部用蓝字或灰底标为假设。结论：中性情景约 857 个付费用户过平衡点，靠订阅加轻度调用差价；乐观要靠中转服务跑通。评委可以逐行挑我们的假设，这比拿一条编造的增长曲线被一枪打死要好一百倍。请评委提示：所有假设替换真实数据后再上正式版。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融资方案口径先行校验：150 万按 15% 出让，对应投后 1,000 万、投前 850 万 —— 两个等式都写在页面上，主动邀请评委验算。估值我们坦白是提案值，不做第三方粉饰。资金用途三块：中转站建设（最大工程投入，对应第 11 页的合规补课）、上游算力垫资（中转与定制业务运转后的现金流需求）、市场推广（按验证顺序花，不撒钱）。强调不预设比例：里程碑制，钱跟着验证结果走。收尾一句：这 150 万买的是一条被验证过的商业闭环。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路线图页先立底线：左边一列「已完成」只有 v1 开源功能这一条，其余全部落在建议规划区，深浅两档分别对应近 6 个月与 6–12 个月。五条线里重点讲隐私安全——密钥进系统凭据库是 README 自己登记的待办，把它放进正式路线是态度问题。底部 Gate 制一句话收尾：我们不是没有野心，而是拒绝用承诺时间换掌声，钱和里程碑对齐、验证一个推进一个。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三件事：一，团队如实介绍，不编履历——学生团队就大大方方是学生团队，把事做扎实是我们唯一的资历策略。二，逐条读五风险五应对，重点是每条应对都指向前面页码上已有的机制（多模型解耦、BYOK、验证顺序、Gate 制），不是空话。三，齐读最后总结句：整合一个页面、给场景上下文、守本地优先——这就是我们要做的、更实用也更可控的 AI 效率体验。然后停下来，只说『谢谢，欢迎提问』，不抢话。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6152" y="50292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spc="4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Zhixu Workbench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00784"/>
            <a:ext cx="1389888" cy="402336"/>
          </a:xfrm>
          <a:prstGeom prst="roundRect">
            <a:avLst>
              <a:gd name="adj" fmla="val 50000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创业计划书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2176272"/>
            <a:ext cx="5577840" cy="9601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5800" b="1" spc="10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智序工作台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55264"/>
            <a:ext cx="502920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600" b="1" spc="160">
                <a:solidFill>
                  <a:srgbClr val="3478F6"/>
                </a:solidFill>
                <a:latin typeface="Segoe UI"/>
                <a:ea typeface="Microsoft YaHei"/>
                <a:cs typeface="Microsoft YaHei"/>
              </a:rPr>
              <a:t>ZHIXU WORKBENCH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12463"/>
            <a:ext cx="566928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一个打开即用的 AI 效率工作台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297680"/>
            <a:ext cx="1517904" cy="384048"/>
          </a:xfrm>
          <a:prstGeom prst="roundRect">
            <a:avLst>
              <a:gd name="adj" fmla="val 50000"/>
            </a:avLst>
          </a:prstGeom>
          <a:solidFill>
            <a:srgbClr val="EEF5FF"/>
          </a:solidFill>
          <a:ln w="12700">
            <a:solidFill>
              <a:srgbClr val="DCE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个性化网站导航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0008" y="4297680"/>
            <a:ext cx="1389888" cy="384048"/>
          </a:xfrm>
          <a:prstGeom prst="roundRect">
            <a:avLst>
              <a:gd name="adj" fmla="val 50000"/>
            </a:avLst>
          </a:prstGeom>
          <a:solidFill>
            <a:srgbClr val="EEF5FF"/>
          </a:solidFill>
          <a:ln w="12700">
            <a:solidFill>
              <a:srgbClr val="DCE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多模型 AI 助手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429768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EEF5FF"/>
          </a:solidFill>
          <a:ln w="12700">
            <a:solidFill>
              <a:srgbClr val="DCE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2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智能课表 · 日程 · 天气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38928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学校：</a:t>
            </a:r>
            <a:r>
              <a:rPr sz="13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南京林业大学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班级：</a:t>
            </a:r>
            <a:r>
              <a:rPr sz="13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25108011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团队成员：</a:t>
            </a:r>
            <a:r>
              <a:rPr sz="13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XXX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272784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开源项目 · github.com/qiruixu/zhixu-workbench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48640"/>
            <a:ext cx="5239512" cy="5760720"/>
          </a:xfrm>
          <a:prstGeom prst="roundRect">
            <a:avLst>
              <a:gd name="adj" fmla="val 5235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19104" y="859536"/>
            <a:ext cx="128016" cy="128016"/>
          </a:xfrm>
          <a:prstGeom prst="ellipse">
            <a:avLst/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55664" y="5815584"/>
            <a:ext cx="91440" cy="91440"/>
          </a:xfrm>
          <a:prstGeom prst="ellipse">
            <a:avLst/>
          </a:prstGeom>
          <a:solidFill>
            <a:srgbClr val="A8C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37960" y="914400"/>
            <a:ext cx="4572000" cy="4023360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48272" y="1106424"/>
            <a:ext cx="82296" cy="82296"/>
          </a:xfrm>
          <a:prstGeom prst="ellipse">
            <a:avLst/>
          </a:prstGeom>
          <a:solidFill>
            <a:srgbClr val="DE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903720" y="1106424"/>
            <a:ext cx="82296" cy="82296"/>
          </a:xfrm>
          <a:prstGeom prst="ellipse">
            <a:avLst/>
          </a:prstGeom>
          <a:solidFill>
            <a:srgbClr val="DE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59168" y="1106424"/>
            <a:ext cx="82296" cy="82296"/>
          </a:xfrm>
          <a:prstGeom prst="ellipse">
            <a:avLst/>
          </a:prstGeom>
          <a:solidFill>
            <a:srgbClr val="DE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269480" y="1069848"/>
            <a:ext cx="3611880" cy="164592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37960" y="1344168"/>
            <a:ext cx="4572000" cy="12801"/>
          </a:xfrm>
          <a:prstGeom prst="rect">
            <a:avLst/>
          </a:prstGeom>
          <a:solidFill>
            <a:srgbClr val="E5E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20840" y="1536192"/>
            <a:ext cx="932688" cy="3246120"/>
          </a:xfrm>
          <a:prstGeom prst="roundRect">
            <a:avLst>
              <a:gd name="adj" fmla="val 7843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30568" y="1719072"/>
            <a:ext cx="658368" cy="118872"/>
          </a:xfrm>
          <a:prstGeom prst="roundRect">
            <a:avLst>
              <a:gd name="adj" fmla="val 50000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30568" y="1947672"/>
            <a:ext cx="713232" cy="118872"/>
          </a:xfrm>
          <a:prstGeom prst="roundRect">
            <a:avLst>
              <a:gd name="adj" fmla="val 50000"/>
            </a:avLst>
          </a:prstGeom>
          <a:solidFill>
            <a:srgbClr val="DE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30568" y="2176272"/>
            <a:ext cx="658368" cy="118872"/>
          </a:xfrm>
          <a:prstGeom prst="roundRect">
            <a:avLst>
              <a:gd name="adj" fmla="val 50000"/>
            </a:avLst>
          </a:prstGeom>
          <a:solidFill>
            <a:srgbClr val="DE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30568" y="2404872"/>
            <a:ext cx="658368" cy="118872"/>
          </a:xfrm>
          <a:prstGeom prst="roundRect">
            <a:avLst>
              <a:gd name="adj" fmla="val 50000"/>
            </a:avLst>
          </a:prstGeom>
          <a:solidFill>
            <a:srgbClr val="DE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30568" y="2633472"/>
            <a:ext cx="658368" cy="118872"/>
          </a:xfrm>
          <a:prstGeom prst="roundRect">
            <a:avLst>
              <a:gd name="adj" fmla="val 50000"/>
            </a:avLst>
          </a:prstGeom>
          <a:solidFill>
            <a:srgbClr val="DE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36408" y="1572768"/>
            <a:ext cx="1371600" cy="141732"/>
          </a:xfrm>
          <a:prstGeom prst="rect">
            <a:avLst/>
          </a:prstGeom>
          <a:solidFill>
            <a:srgbClr val="C9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195560" y="1540764"/>
            <a:ext cx="731520" cy="205740"/>
          </a:xfrm>
          <a:prstGeom prst="roundRect">
            <a:avLst>
              <a:gd name="adj" fmla="val 48888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836408" y="1865376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E9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964424" y="1993392"/>
            <a:ext cx="219456" cy="219456"/>
          </a:xfrm>
          <a:prstGeom prst="roundRect">
            <a:avLst>
              <a:gd name="adj" fmla="val 29166"/>
            </a:avLst>
          </a:prstGeom>
          <a:solidFill>
            <a:srgbClr val="A8C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64424" y="2359152"/>
            <a:ext cx="1024128" cy="86868"/>
          </a:xfrm>
          <a:prstGeom prst="rect">
            <a:avLst/>
          </a:prstGeom>
          <a:solidFill>
            <a:srgbClr val="DE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64424" y="2523744"/>
            <a:ext cx="658368" cy="86868"/>
          </a:xfrm>
          <a:prstGeom prst="rect">
            <a:avLst/>
          </a:prstGeom>
          <a:solidFill>
            <a:srgbClr val="DE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445752" y="1865376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E9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573768" y="1993392"/>
            <a:ext cx="219456" cy="219456"/>
          </a:xfrm>
          <a:prstGeom prst="roundRect">
            <a:avLst>
              <a:gd name="adj" fmla="val 29166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73768" y="2359152"/>
            <a:ext cx="1024128" cy="86868"/>
          </a:xfrm>
          <a:prstGeom prst="rect">
            <a:avLst/>
          </a:prstGeom>
          <a:solidFill>
            <a:srgbClr val="DE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73768" y="2523744"/>
            <a:ext cx="658368" cy="86868"/>
          </a:xfrm>
          <a:prstGeom prst="rect">
            <a:avLst/>
          </a:prstGeom>
          <a:solidFill>
            <a:srgbClr val="DE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36408" y="2907792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E9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964424" y="3035808"/>
            <a:ext cx="219456" cy="219456"/>
          </a:xfrm>
          <a:prstGeom prst="roundRect">
            <a:avLst>
              <a:gd name="adj" fmla="val 29166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4424" y="3401568"/>
            <a:ext cx="1024128" cy="86868"/>
          </a:xfrm>
          <a:prstGeom prst="rect">
            <a:avLst/>
          </a:prstGeom>
          <a:solidFill>
            <a:srgbClr val="DE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64424" y="3566160"/>
            <a:ext cx="658368" cy="86868"/>
          </a:xfrm>
          <a:prstGeom prst="rect">
            <a:avLst/>
          </a:prstGeom>
          <a:solidFill>
            <a:srgbClr val="DE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445752" y="2907792"/>
            <a:ext cx="1481328" cy="91440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E9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573768" y="3035808"/>
            <a:ext cx="219456" cy="219456"/>
          </a:xfrm>
          <a:prstGeom prst="roundRect">
            <a:avLst>
              <a:gd name="adj" fmla="val 29166"/>
            </a:avLst>
          </a:prstGeom>
          <a:solidFill>
            <a:srgbClr val="A8C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573768" y="3401568"/>
            <a:ext cx="1024128" cy="86868"/>
          </a:xfrm>
          <a:prstGeom prst="rect">
            <a:avLst/>
          </a:prstGeom>
          <a:solidFill>
            <a:srgbClr val="DE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73768" y="3566160"/>
            <a:ext cx="658368" cy="86868"/>
          </a:xfrm>
          <a:prstGeom prst="rect">
            <a:avLst/>
          </a:prstGeom>
          <a:solidFill>
            <a:srgbClr val="DE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836408" y="4096512"/>
            <a:ext cx="3090672" cy="548640"/>
          </a:xfrm>
          <a:prstGeom prst="roundRect">
            <a:avLst>
              <a:gd name="adj" fmla="val 15000"/>
            </a:avLst>
          </a:prstGeom>
          <a:solidFill>
            <a:srgbClr val="EEF5FF"/>
          </a:solidFill>
          <a:ln w="12700">
            <a:solidFill>
              <a:srgbClr val="DDE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001000" y="4279392"/>
            <a:ext cx="182880" cy="182880"/>
          </a:xfrm>
          <a:prstGeom prst="ellipse">
            <a:avLst/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02752" y="4261104"/>
            <a:ext cx="1417320" cy="91440"/>
          </a:xfrm>
          <a:prstGeom prst="rect">
            <a:avLst/>
          </a:prstGeom>
          <a:solidFill>
            <a:srgbClr val="C9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302752" y="4430268"/>
            <a:ext cx="960120" cy="91440"/>
          </a:xfrm>
          <a:prstGeom prst="rect">
            <a:avLst/>
          </a:prstGeom>
          <a:solidFill>
            <a:srgbClr val="DE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168128" y="4274820"/>
            <a:ext cx="621792" cy="192024"/>
          </a:xfrm>
          <a:prstGeom prst="roundRect">
            <a:avLst>
              <a:gd name="adj" fmla="val 47619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784080" y="694944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30384" y="818388"/>
            <a:ext cx="82296" cy="82296"/>
          </a:xfrm>
          <a:prstGeom prst="ellipse">
            <a:avLst/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67544" y="694944"/>
            <a:ext cx="914400" cy="3291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本地优先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63640" y="4846320"/>
            <a:ext cx="210312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446520" y="5120640"/>
            <a:ext cx="384048" cy="384048"/>
          </a:xfrm>
          <a:prstGeom prst="ellipse">
            <a:avLst/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76872" y="5029200"/>
            <a:ext cx="13716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多模型助手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76872" y="5358384"/>
            <a:ext cx="1115568" cy="91440"/>
          </a:xfrm>
          <a:prstGeom prst="rect">
            <a:avLst/>
          </a:prstGeom>
          <a:solidFill>
            <a:srgbClr val="DE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63640" y="6053328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0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产品界面示意图 · 抽象设计，非真实产品截图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33895" y="54864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Zhixu Workbench · 创业计划书 </a:t>
            </a:r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|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12064"/>
            <a:ext cx="512064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 spc="12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PART 01 · 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96012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2400" b="1" spc="4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背景与痛点：工具越多，一天越碎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78992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不是缺少 App，而是缺少一个能替所有 App「排队」的位置 —— 以下是设计层面的观察，不含未经调查的数据。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47088"/>
            <a:ext cx="5175504" cy="841248"/>
          </a:xfrm>
          <a:prstGeom prst="roundRect">
            <a:avLst>
              <a:gd name="adj" fmla="val 9782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47088"/>
            <a:ext cx="50292" cy="841248"/>
          </a:xfrm>
          <a:prstGeom prst="roundRect">
            <a:avLst>
              <a:gd name="adj" fmla="val 50000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47672"/>
            <a:ext cx="36576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947672"/>
            <a:ext cx="237744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入口分散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31136"/>
            <a:ext cx="4828032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查课、看群、记事、查天气各开各的应用，一天的注意力被切碎在四五个入口之间。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834640"/>
            <a:ext cx="5175504" cy="841248"/>
          </a:xfrm>
          <a:prstGeom prst="roundRect">
            <a:avLst>
              <a:gd name="adj" fmla="val 9782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2834640"/>
            <a:ext cx="50292" cy="841248"/>
          </a:xfrm>
          <a:prstGeom prst="roundRect">
            <a:avLst>
              <a:gd name="adj" fmla="val 50000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35224"/>
            <a:ext cx="36576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2935224"/>
            <a:ext cx="237744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门户噪音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18688"/>
            <a:ext cx="4828032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浏览器首页常堆满广告与陌生推荐，它不了解你的学习，也不属于你。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22191"/>
            <a:ext cx="5175504" cy="841248"/>
          </a:xfrm>
          <a:prstGeom prst="roundRect">
            <a:avLst>
              <a:gd name="adj" fmla="val 9782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822191"/>
            <a:ext cx="50292" cy="841248"/>
          </a:xfrm>
          <a:prstGeom prst="roundRect">
            <a:avLst>
              <a:gd name="adj" fmla="val 50000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922776"/>
            <a:ext cx="36576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3922776"/>
            <a:ext cx="237744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AI 悬浮体外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06240"/>
            <a:ext cx="4828032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通用聊天工具很聪明，但不知道你今天几点有空、在哪间教室、会不会下雨。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09744"/>
            <a:ext cx="5175504" cy="841248"/>
          </a:xfrm>
          <a:prstGeom prst="roundRect">
            <a:avLst>
              <a:gd name="adj" fmla="val 9782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4809744"/>
            <a:ext cx="50292" cy="841248"/>
          </a:xfrm>
          <a:prstGeom prst="roundRect">
            <a:avLst>
              <a:gd name="adj" fmla="val 50000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0328"/>
            <a:ext cx="36576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2728" y="4910328"/>
            <a:ext cx="237744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数据不在手里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193792"/>
            <a:ext cx="4828032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记录类工具普遍要求云端账号，导出与删除是否透明，普通学生无从验证。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847088"/>
            <a:ext cx="5358384" cy="3858768"/>
          </a:xfrm>
          <a:prstGeom prst="roundRect">
            <a:avLst>
              <a:gd name="adj" fmla="val 2132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5936" y="2011680"/>
            <a:ext cx="493776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一名学生的一天 · </a:t>
            </a: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场景设定（虚构，用于表达问题）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2395728"/>
            <a:ext cx="14630" cy="3017520"/>
          </a:xfrm>
          <a:prstGeom prst="rect">
            <a:avLst/>
          </a:prstGeom>
          <a:solidFill>
            <a:srgbClr val="C9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611112" y="2519172"/>
            <a:ext cx="137160" cy="137160"/>
          </a:xfrm>
          <a:prstGeom prst="ellipse">
            <a:avLst/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76288" y="2468880"/>
            <a:ext cx="786384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07:30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17536" y="2473452"/>
            <a:ext cx="363931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起床：想看今天课与天气，要先开教务、再开天气 App</a:t>
            </a:r>
          </a:p>
        </p:txBody>
      </p:sp>
      <p:sp>
        <p:nvSpPr>
          <p:cNvPr id="32" name="Oval 31"/>
          <p:cNvSpPr/>
          <p:nvPr/>
        </p:nvSpPr>
        <p:spPr>
          <a:xfrm>
            <a:off x="6611112" y="3127248"/>
            <a:ext cx="137160" cy="137160"/>
          </a:xfrm>
          <a:prstGeom prst="ellipse">
            <a:avLst/>
          </a:prstGeom>
          <a:solidFill>
            <a:srgbClr val="C9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76288" y="3076956"/>
            <a:ext cx="786384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07:50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17536" y="3081528"/>
            <a:ext cx="363931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出门：班级群里翻上午的调课通知</a:t>
            </a:r>
          </a:p>
        </p:txBody>
      </p:sp>
      <p:sp>
        <p:nvSpPr>
          <p:cNvPr id="35" name="Oval 34"/>
          <p:cNvSpPr/>
          <p:nvPr/>
        </p:nvSpPr>
        <p:spPr>
          <a:xfrm>
            <a:off x="6611112" y="3735324"/>
            <a:ext cx="137160" cy="137160"/>
          </a:xfrm>
          <a:prstGeom prst="ellipse">
            <a:avLst/>
          </a:prstGeom>
          <a:solidFill>
            <a:srgbClr val="C9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76288" y="3685032"/>
            <a:ext cx="786384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12:30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17536" y="3689604"/>
            <a:ext cx="363931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午休：约小组讨论，在三个日历间来回确认谁有空</a:t>
            </a:r>
          </a:p>
        </p:txBody>
      </p:sp>
      <p:sp>
        <p:nvSpPr>
          <p:cNvPr id="38" name="Oval 37"/>
          <p:cNvSpPr/>
          <p:nvPr/>
        </p:nvSpPr>
        <p:spPr>
          <a:xfrm>
            <a:off x="6611112" y="4343400"/>
            <a:ext cx="137160" cy="137160"/>
          </a:xfrm>
          <a:prstGeom prst="ellipse">
            <a:avLst/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76288" y="4293108"/>
            <a:ext cx="786384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17:00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17536" y="4297680"/>
            <a:ext cx="363931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傍晚：想起开题材料没弄，但「今日待办」记在另一个 App</a:t>
            </a:r>
          </a:p>
        </p:txBody>
      </p:sp>
      <p:sp>
        <p:nvSpPr>
          <p:cNvPr id="41" name="Oval 40"/>
          <p:cNvSpPr/>
          <p:nvPr/>
        </p:nvSpPr>
        <p:spPr>
          <a:xfrm>
            <a:off x="6611112" y="4951476"/>
            <a:ext cx="137160" cy="137160"/>
          </a:xfrm>
          <a:prstGeom prst="ellipse">
            <a:avLst/>
          </a:prstGeom>
          <a:solidFill>
            <a:srgbClr val="C9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76288" y="4901184"/>
            <a:ext cx="786384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22:00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17536" y="4905756"/>
            <a:ext cx="363931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睡前：今天所有的记录，都存在自己不太确定的地方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5870448"/>
            <a:ext cx="10820095" cy="484632"/>
          </a:xfrm>
          <a:prstGeom prst="roundRect">
            <a:avLst>
              <a:gd name="adj" fmla="val 15094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5256" y="5870448"/>
            <a:ext cx="10381183" cy="4846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我们的判断：</a:t>
            </a:r>
            <a:r>
              <a:rPr sz="11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我们缺的不是更多工具,而是一个把已有入口排好序、还能「看见今天」的工作台。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33895" y="54864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Zhixu Workbench · 创业计划书 </a:t>
            </a:r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|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12064"/>
            <a:ext cx="512064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 spc="12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PART 01 · 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96012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2400" b="1" spc="4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我们的方案：一个页面，三类能力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78992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不做「第 N 个效率 App」，而是把工作必需的入口、日程与 AI 收进同一块屏幕。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83664"/>
            <a:ext cx="3502152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83664"/>
            <a:ext cx="3502152" cy="56692"/>
          </a:xfrm>
          <a:prstGeom prst="roundRect">
            <a:avLst>
              <a:gd name="adj" fmla="val 48387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0392" y="2066543"/>
            <a:ext cx="1699641" cy="345186"/>
          </a:xfrm>
          <a:prstGeom prst="roundRect">
            <a:avLst>
              <a:gd name="adj" fmla="val 47682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导航 · 课表 · 日程 · 天气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487168"/>
            <a:ext cx="3172968" cy="2926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5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一页聚合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834640"/>
            <a:ext cx="3191256" cy="9326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把每天必经的入口收进同一个首页：网站按你的习惯分组，课程与日程同屏展示，天气不必再开一个 App。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785615"/>
            <a:ext cx="3172968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详见第 4 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83664"/>
            <a:ext cx="3502152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883664"/>
            <a:ext cx="3502152" cy="56692"/>
          </a:xfrm>
          <a:prstGeom prst="roundRect">
            <a:avLst>
              <a:gd name="adj" fmla="val 48387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07992" y="2066543"/>
            <a:ext cx="1271016" cy="345186"/>
          </a:xfrm>
          <a:prstGeom prst="roundRect">
            <a:avLst>
              <a:gd name="adj" fmla="val 47682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让 AI 看见你的今天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487168"/>
            <a:ext cx="3172968" cy="2926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5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上下文感知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834640"/>
            <a:ext cx="3191256" cy="9326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在你授权后，AI 助手能读取本机课表、日程与所在地天气，给出的建议直接对应「你今天几点有空」。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785615"/>
            <a:ext cx="3172968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详见第 5 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883664"/>
            <a:ext cx="3502152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01000" y="1883664"/>
            <a:ext cx="3502152" cy="56692"/>
          </a:xfrm>
          <a:prstGeom prst="roundRect">
            <a:avLst>
              <a:gd name="adj" fmla="val 48387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65592" y="2066543"/>
            <a:ext cx="905256" cy="345186"/>
          </a:xfrm>
          <a:prstGeom prst="roundRect">
            <a:avLst>
              <a:gd name="adj" fmla="val 47682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数据在你手里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2487168"/>
            <a:ext cx="3172968" cy="29260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5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本地优先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2834640"/>
            <a:ext cx="3191256" cy="9326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2000"/>
              </a:lnSpc>
            </a:pPr>
            <a:r>
              <a:rPr sz="9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核心功能离线可用，数据保存在本机、可随时导出；AI 走 BYOK（自带 Key），只出建议、执行前必经你确认。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3785615"/>
            <a:ext cx="3172968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详见第 6 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370832"/>
            <a:ext cx="548640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一条代码库，三种使用形态 </a:t>
            </a: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（开源仓库 README 可核对）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681728"/>
            <a:ext cx="3502152" cy="786384"/>
          </a:xfrm>
          <a:prstGeom prst="roundRect">
            <a:avLst>
              <a:gd name="adj" fmla="val 10465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" y="4773168"/>
            <a:ext cx="320040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单文件版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5029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下载一个 HTML 双击即用，免安装、免联网也能用全部非 AI 功能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681728"/>
            <a:ext cx="3502152" cy="786384"/>
          </a:xfrm>
          <a:prstGeom prst="roundRect">
            <a:avLst>
              <a:gd name="adj" fmla="val 10465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7992" y="4773168"/>
            <a:ext cx="320040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网页版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5029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浏览器打开 localhost:5173，本地前端 + 本地代理后端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4681728"/>
            <a:ext cx="3502152" cy="786384"/>
          </a:xfrm>
          <a:prstGeom prst="roundRect">
            <a:avLst>
              <a:gd name="adj" fmla="val 10465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65592" y="4773168"/>
            <a:ext cx="320040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自部署 / 桌面壳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5592" y="50292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源码本地运行，功能最完整；仓库含 Electron 目录（打包形态建议规划）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760720"/>
            <a:ext cx="10820095" cy="585216"/>
          </a:xfrm>
          <a:prstGeom prst="roundRect">
            <a:avLst>
              <a:gd name="adj" fmla="val 12500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" y="5760720"/>
            <a:ext cx="10381183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1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一句话定位：</a:t>
            </a:r>
            <a:r>
              <a:rPr sz="11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开源、本地优先的个人 AI 工作台 —— 免费与开源不是慈善，是让用户从第一天起就能验证我们说的每句话。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33895" y="54864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Zhixu Workbench · 创业计划书 </a:t>
            </a:r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|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12064"/>
            <a:ext cx="512064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 spc="12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PART 02 · 产品介绍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96012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2400" b="1" spc="4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产品全景：五大模块，一个统一工作台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78992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导航、AI、课表、日程备忘与天气共享同一页面与同一份本地数据 —— 打开浏览器即是今天。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00784"/>
            <a:ext cx="4828032" cy="3358166"/>
          </a:xfrm>
          <a:prstGeom prst="roundRect">
            <a:avLst>
              <a:gd name="adj" fmla="val 2450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-work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856232"/>
            <a:ext cx="4517136" cy="2772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4665758"/>
            <a:ext cx="4517136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真实界面截图 · 仓库 docs/screenshots/01-workbench.png（已脱敏的空状态演示）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230368"/>
            <a:ext cx="4828032" cy="1115568"/>
          </a:xfrm>
          <a:prstGeom prst="roundRect">
            <a:avLst>
              <a:gd name="adj" fmla="val 7377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5376672"/>
            <a:ext cx="4434840" cy="8778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同屏可见：</a:t>
            </a:r>
            <a:r>
              <a:rPr sz="11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左侧模块导航 · 顶部问候 · 今日课程 / 日程备忘 / 天气三面板 · 底部网站区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五个模块不是五个入口，而是</a:t>
            </a:r>
            <a:r>
              <a:rPr sz="11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一张页面的五个区域</a:t>
            </a:r>
            <a:r>
              <a:rPr sz="11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；布局可逐块开关。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70448" y="1700784"/>
            <a:ext cx="5632704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53328" y="1920240"/>
            <a:ext cx="365760" cy="365760"/>
          </a:xfrm>
          <a:prstGeom prst="ellipse">
            <a:avLst/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53328" y="192024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819656"/>
            <a:ext cx="475488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个性化网站导航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4809744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常用网站按自己的习惯分组置顶，课表与网站区同屏，成为每天唯一入口。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70448" y="2633472"/>
            <a:ext cx="5632704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053328" y="2852928"/>
            <a:ext cx="365760" cy="365760"/>
          </a:xfrm>
          <a:prstGeom prst="ellipse">
            <a:avLst/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53328" y="285292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752344"/>
            <a:ext cx="475488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多模型 AI 助手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035808"/>
            <a:ext cx="4809744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自带 Key（BYOK）接入多家模型服务商与自建 API，聊天中随时切换模型。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70448" y="3566160"/>
            <a:ext cx="5632704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53328" y="3785615"/>
            <a:ext cx="365760" cy="365760"/>
          </a:xfrm>
          <a:prstGeom prst="ellipse">
            <a:avLst/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53328" y="3785615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685032"/>
            <a:ext cx="475488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智能课表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968496"/>
            <a:ext cx="4809744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教务导出文件拖入即导入，自动定位当前周次，点日历与课表双向联动。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70448" y="4498848"/>
            <a:ext cx="5632704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053328" y="4718304"/>
            <a:ext cx="365760" cy="365760"/>
          </a:xfrm>
          <a:prstGeom prst="ellipse">
            <a:avLst/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53328" y="4718304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617720"/>
            <a:ext cx="475488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日程备忘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901184"/>
            <a:ext cx="4809744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「待办 = 截止前都要惦记的事，日程 = 绑定具体一天」，分开记录、互相不挤占。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70448" y="5431536"/>
            <a:ext cx="5632704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053328" y="5650992"/>
            <a:ext cx="365760" cy="365760"/>
          </a:xfrm>
          <a:prstGeom prst="ellipse">
            <a:avLst/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53328" y="565099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550407"/>
            <a:ext cx="475488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天气信息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833872"/>
            <a:ext cx="4809744" cy="3291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定位或搜索城市：实况、逐小时与三天预报，面板可按需在布局中隐藏。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33895" y="54864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Zhixu Workbench · 创业计划书 </a:t>
            </a:r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| 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12064"/>
            <a:ext cx="512064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 spc="12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PART 02 · 产品介绍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96012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2400" b="1" spc="4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核心创新：一个看得见你日程的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78992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普通聊天工具只知道你说什么；智序 AI 在你授权后，还知道你今天有什么安排。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00784"/>
            <a:ext cx="10820095" cy="1170432"/>
          </a:xfrm>
          <a:prstGeom prst="roundRect">
            <a:avLst>
              <a:gd name="adj" fmla="val 7031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05256" y="1883664"/>
            <a:ext cx="2478024" cy="859536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1947672"/>
            <a:ext cx="2221991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① 本地上下文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212848"/>
            <a:ext cx="2221991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课表 · 日程 · 待办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所在城市与天气，保存在本机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401568" y="2194560"/>
            <a:ext cx="274320" cy="237744"/>
          </a:xfrm>
          <a:prstGeom prst="rightArrow">
            <a:avLst/>
          </a:prstGeom>
          <a:solidFill>
            <a:srgbClr val="A8C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3320" y="1883664"/>
            <a:ext cx="2478024" cy="859536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31335" y="1947672"/>
            <a:ext cx="2221991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② 用户授权开关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31335" y="2212848"/>
            <a:ext cx="2221991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聊天页「我的日程」开关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默认开启，可随时关闭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199631" y="2194560"/>
            <a:ext cx="274320" cy="237744"/>
          </a:xfrm>
          <a:prstGeom prst="rightArrow">
            <a:avLst/>
          </a:prstGeom>
          <a:solidFill>
            <a:srgbClr val="A8C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01383" y="1883664"/>
            <a:ext cx="2478024" cy="859536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399" y="1947672"/>
            <a:ext cx="2221991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③ 随对话发送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399" y="2212848"/>
            <a:ext cx="2221991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作为系统上下文一并发给模型，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并要求「不知道就说，不要编造」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997696" y="2194560"/>
            <a:ext cx="274320" cy="237744"/>
          </a:xfrm>
          <a:prstGeom prst="rightArrow">
            <a:avLst/>
          </a:prstGeom>
          <a:solidFill>
            <a:srgbClr val="A8C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99448" y="1883664"/>
            <a:ext cx="2478024" cy="859536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15875">
            <a:solidFill>
              <a:srgbClr val="347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27464" y="1947672"/>
            <a:ext cx="2221991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④ 贴着日程回答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7464" y="2212848"/>
            <a:ext cx="2221991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建议直接对应你哪天几点有空，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采纳与否由用户决定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2926080"/>
            <a:ext cx="1005840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机制描述与默认状态来自开源 README「AI 能读到你的课表 / 日程 / 位置」一节，可在仓库中核对。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291840"/>
            <a:ext cx="731520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使用场景示例 · </a:t>
            </a:r>
            <a:r>
              <a:rPr sz="10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演示设计思路，不代表全部功能均已上线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584448"/>
            <a:ext cx="3483864" cy="1591056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3816" y="3694176"/>
            <a:ext cx="1033843" cy="357251"/>
          </a:xfrm>
          <a:prstGeom prst="roundRect">
            <a:avLst>
              <a:gd name="adj" fmla="val 46071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示例 ① · 课表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" y="4133087"/>
            <a:ext cx="3227832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你的安排  </a:t>
            </a:r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今天 12:30 放学后直到 18:00 都没有课。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" y="4626864"/>
            <a:ext cx="322783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助手建议  </a:t>
            </a:r>
            <a:r>
              <a:rPr sz="8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要不要把小组作业讨论约在 15:00？我可以顺手生成分工清单草稿。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52544" y="3584448"/>
            <a:ext cx="3483864" cy="1591056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80559" y="3694176"/>
            <a:ext cx="1033843" cy="357251"/>
          </a:xfrm>
          <a:prstGeom prst="roundRect">
            <a:avLst>
              <a:gd name="adj" fmla="val 46071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示例 ② · 日程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59" y="4133087"/>
            <a:ext cx="3227832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你的安排  </a:t>
            </a:r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你标记的日程：明天 14:00 毕业设计开题会，待办「周报」未完成。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59" y="4626864"/>
            <a:ext cx="322783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助手建议  </a:t>
            </a:r>
            <a:r>
              <a:rPr sz="8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建议今晚先把周报做完，我会提醒你别和开题材料挤到明早。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9288" y="3584448"/>
            <a:ext cx="3483864" cy="1591056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47304" y="3694176"/>
            <a:ext cx="1033843" cy="357251"/>
          </a:xfrm>
          <a:prstGeom prst="roundRect">
            <a:avLst>
              <a:gd name="adj" fmla="val 46071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9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示例 ③ · 天气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47304" y="4133087"/>
            <a:ext cx="3227832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你的安排  </a:t>
            </a:r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你所在城市当前小雨，未来三天降水概率较高。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47304" y="4626864"/>
            <a:ext cx="3227832" cy="4754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助手建议  </a:t>
            </a:r>
            <a:r>
              <a:rPr sz="8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明早第 1 节有课且在室外校区，建议提前 15 分钟出门，带伞。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321808"/>
            <a:ext cx="5303520" cy="1024128"/>
          </a:xfrm>
          <a:prstGeom prst="roundRect">
            <a:avLst>
              <a:gd name="adj" fmla="val 8035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" y="5449824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与普通 AI 聊天工具的区别</a:t>
            </a:r>
          </a:p>
          <a:p>
            <a:pPr algn="l">
              <a:lnSpc>
                <a:spcPct val="112000"/>
              </a:lnSpc>
            </a:pPr>
            <a:r>
              <a:rPr sz="10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通用助手「你问它答」，对今天一无所知；智序先读授权上下文再建议，</a:t>
            </a:r>
          </a:p>
          <a:p>
            <a:pPr algn="l">
              <a:lnSpc>
                <a:spcPct val="112000"/>
              </a:lnSpc>
            </a:pPr>
            <a:r>
              <a:rPr sz="10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建议直接落到「哪天几点做什么」，并且每次对话都可撤回授权。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9632" y="5321808"/>
            <a:ext cx="5306263" cy="1024128"/>
          </a:xfrm>
          <a:prstGeom prst="roundRect">
            <a:avLst>
              <a:gd name="adj" fmla="val 8035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5449824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风险边界：AI 不出手，只出主意</a:t>
            </a:r>
          </a:p>
          <a:p>
            <a:pPr algn="l">
              <a:lnSpc>
                <a:spcPct val="112000"/>
              </a:lnSpc>
            </a:pPr>
            <a:r>
              <a:rPr sz="10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AI 仅输出结构化操作建议，不执行代码、不访问本地文件；导航整理等</a:t>
            </a:r>
          </a:p>
          <a:p>
            <a:pPr algn="l">
              <a:lnSpc>
                <a:spcPct val="112000"/>
              </a:lnSpc>
            </a:pPr>
            <a:r>
              <a:rPr sz="10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改动一律「预览 → 用户确认 → 执行」；高风险操作永远不会自动发生。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33895" y="54864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Zhixu Workbench · 创业计划书 </a:t>
            </a:r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| 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12064"/>
            <a:ext cx="512064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 spc="12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PART 03 · 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96012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2400" b="1" spc="4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技术方案：壁垒在长尾解析与上下文整合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78992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模型可以换，接口可以接；难的是把各高校教务导出的『脏表格』变成可靠的结构化课表。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27632"/>
            <a:ext cx="493776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技术架构示意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65376"/>
            <a:ext cx="4956048" cy="603504"/>
          </a:xfrm>
          <a:prstGeom prst="roundRect">
            <a:avLst>
              <a:gd name="adj" fmla="val 12121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工作台前端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67128"/>
            <a:ext cx="461772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React + Vite：网页版 / 单文件版 / Electron 桌面端同一代码库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78608"/>
            <a:ext cx="495604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51760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AI 能力层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461772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多模型接入 · 上下文组装 · 流式对话 · 结构化操作建议（不执行）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91840"/>
            <a:ext cx="495604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64992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课表解析引擎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93592"/>
            <a:ext cx="461772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5 类文件Reader → 统一网格模型 → 周次/学期推断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005072"/>
            <a:ext cx="4956048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078224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本地数据层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06824"/>
            <a:ext cx="461772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浏览器本地存储 + 本地代理后端（密钥隔离 / 脱敏日志）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36592"/>
            <a:ext cx="512064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目录结构可在仓库核对：src/lib/timetable/（parser · grid · infer · dates + readers/）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8464" y="1627632"/>
            <a:ext cx="493776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五个技术方向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98464" y="1865376"/>
            <a:ext cx="550468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98464" y="1865376"/>
            <a:ext cx="50292" cy="530352"/>
          </a:xfrm>
          <a:prstGeom prst="roundRect">
            <a:avLst>
              <a:gd name="adj" fmla="val 50000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9632" y="1924812"/>
            <a:ext cx="5212080" cy="1920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课表解析引擎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2" y="2139696"/>
            <a:ext cx="5175504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适配不同教务系统与课表文件：格式 Reader 分层、解析失败给出原因且不覆盖已有课表。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98464" y="2487168"/>
            <a:ext cx="550468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98464" y="2487168"/>
            <a:ext cx="50292" cy="530352"/>
          </a:xfrm>
          <a:prstGeom prst="roundRect">
            <a:avLst>
              <a:gd name="adj" fmla="val 50000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9632" y="2546603"/>
            <a:ext cx="5212080" cy="1920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多模型接入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2" y="2761487"/>
            <a:ext cx="5175504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服务商预设 + 连接测试 + 模型动态刷新；未实测的一律标「待验证」，不谎称兼容。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98464" y="3108959"/>
            <a:ext cx="550468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998464" y="3108959"/>
            <a:ext cx="50292" cy="530352"/>
          </a:xfrm>
          <a:prstGeom prst="roundRect">
            <a:avLst>
              <a:gd name="adj" fmla="val 50000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9632" y="3168395"/>
            <a:ext cx="5212080" cy="1920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上下文整合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9632" y="3383279"/>
            <a:ext cx="5175504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课程 / 日程 / 待办 / 位置天气 → 系统上下文，开关与范围由用户控制。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98464" y="3730751"/>
            <a:ext cx="550468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998464" y="3730751"/>
            <a:ext cx="50292" cy="530352"/>
          </a:xfrm>
          <a:prstGeom prst="roundRect">
            <a:avLst>
              <a:gd name="adj" fmla="val 50000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9632" y="3790187"/>
            <a:ext cx="5212080" cy="1920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本地优先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2" y="4005071"/>
            <a:ext cx="5175504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核心功能离线可用，数据不经服务器；配置可导入导出，含无密钥安全分享包。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98464" y="4352543"/>
            <a:ext cx="550468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998464" y="4352543"/>
            <a:ext cx="50292" cy="530352"/>
          </a:xfrm>
          <a:prstGeom prst="roundRect">
            <a:avLst>
              <a:gd name="adj" fmla="val 50000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99632" y="4411979"/>
            <a:ext cx="5212080" cy="1920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安全设计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9632" y="4626863"/>
            <a:ext cx="5175504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本地代理隔离密钥、日志脱敏；同时如实声明已知限制（如未接入系统凭据库）。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4992624"/>
            <a:ext cx="731520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数字口径说明 </a:t>
            </a: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—— 本页不因以下数字推导任何准确率 / 成功率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5266944"/>
            <a:ext cx="350215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" y="5358383"/>
            <a:ext cx="118872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8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8 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02536" y="5385816"/>
            <a:ext cx="2084832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教务文件格式支持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" y="5742431"/>
            <a:ext cx="3227832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xls/xlsx/csv/tsv/rtf/docx/pdf/ics（PDF 实验性）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" y="5998464"/>
            <a:ext cx="829056" cy="321056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可在仓库核对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43400" y="5266944"/>
            <a:ext cx="350215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89704" y="5358383"/>
            <a:ext cx="118872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8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7 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0136" y="5385816"/>
            <a:ext cx="2084832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高校真实课表验证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9704" y="5742431"/>
            <a:ext cx="3227832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公开 README 实测含上海科技大学、中国石油大学等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89704" y="5998464"/>
            <a:ext cx="1199895" cy="321056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项目方提供 · 待核验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01000" y="5266944"/>
            <a:ext cx="350215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47304" y="5358383"/>
            <a:ext cx="118872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8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22 个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17736" y="5385816"/>
            <a:ext cx="2084832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课表解析难题处理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47304" y="5742431"/>
            <a:ext cx="3227832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README 有 25 条编号修复记录，口径待核对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47304" y="5998464"/>
            <a:ext cx="1199895" cy="321056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项目方提供 · 待核验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33895" y="54864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Zhixu Workbench · 创业计划书 </a:t>
            </a:r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| 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12064"/>
            <a:ext cx="512064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 spc="12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PART 03 · 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96012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2400" b="1" spc="4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当前进展与开源生态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78992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开源地址：github.com/qiruixu/zhixu-workbench —— 本页面内容已对照仓库公开文件与 README 核查（2026-10）。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00784"/>
            <a:ext cx="3502152" cy="3346704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700784"/>
            <a:ext cx="3502152" cy="50292"/>
          </a:xfrm>
          <a:prstGeom prst="roundRect">
            <a:avLst>
              <a:gd name="adj" fmla="val 50000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847088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3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06624" y="1865376"/>
            <a:ext cx="543306" cy="333121"/>
          </a:xfrm>
          <a:prstGeom prst="roundRect">
            <a:avLst>
              <a:gd name="adj" fmla="val 49409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可核验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212848"/>
            <a:ext cx="3172968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有仓库代码与 README 实测记录支持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487168"/>
            <a:ext cx="3191256" cy="2468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320"/>
              </a:spcAft>
            </a:pPr>
            <a:r>
              <a:rPr sz="90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· </a:t>
            </a:r>
            <a:r>
              <a:rPr sz="90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五模块工作台首页（导航 / 课表 / 日程备忘 / 天气 / AI 入口）</a:t>
            </a:r>
          </a:p>
          <a:p>
            <a:pPr algn="l">
              <a:lnSpc>
                <a:spcPct val="110000"/>
              </a:lnSpc>
              <a:spcAft>
                <a:spcPts val="320"/>
              </a:spcAft>
            </a:pPr>
            <a:r>
              <a:rPr sz="90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· </a:t>
            </a:r>
            <a:r>
              <a:rPr sz="90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8 种格式课表导入 · 自动周次定位 · 日历联动</a:t>
            </a:r>
          </a:p>
          <a:p>
            <a:pPr algn="l">
              <a:lnSpc>
                <a:spcPct val="110000"/>
              </a:lnSpc>
              <a:spcAft>
                <a:spcPts val="320"/>
              </a:spcAft>
            </a:pPr>
            <a:r>
              <a:rPr sz="90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· </a:t>
            </a:r>
            <a:r>
              <a:rPr sz="90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BYOK 多模型对话：预设 / 连接测试 / 流式 / 多会话</a:t>
            </a:r>
          </a:p>
          <a:p>
            <a:pPr algn="l">
              <a:lnSpc>
                <a:spcPct val="110000"/>
              </a:lnSpc>
              <a:spcAft>
                <a:spcPts val="320"/>
              </a:spcAft>
            </a:pPr>
            <a:r>
              <a:rPr sz="90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· </a:t>
            </a:r>
            <a:r>
              <a:rPr sz="90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「我的日程」上下文开关 · 导航整理建议（确认后执行）</a:t>
            </a:r>
          </a:p>
          <a:p>
            <a:pPr algn="l">
              <a:lnSpc>
                <a:spcPct val="110000"/>
              </a:lnSpc>
              <a:spcAft>
                <a:spcPts val="320"/>
              </a:spcAft>
            </a:pPr>
            <a:r>
              <a:rPr sz="90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· </a:t>
            </a:r>
            <a:r>
              <a:rPr sz="90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本地存储 · 配置导入导出 · 无密钥安全分享包 · 新手引导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00784"/>
            <a:ext cx="3502152" cy="3346704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700784"/>
            <a:ext cx="3502152" cy="50292"/>
          </a:xfrm>
          <a:prstGeom prst="roundRect">
            <a:avLst>
              <a:gd name="adj" fmla="val 50000"/>
            </a:avLst>
          </a:prstGeom>
          <a:solidFill>
            <a:srgbClr val="C9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847088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3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开发中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64224" y="1865376"/>
            <a:ext cx="867155" cy="333121"/>
          </a:xfrm>
          <a:prstGeom prst="roundRect">
            <a:avLst>
              <a:gd name="adj" fmla="val 49409"/>
            </a:avLst>
          </a:prstGeom>
          <a:solidFill>
            <a:srgbClr val="F7F9FC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待项目方确认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2212848"/>
            <a:ext cx="3172968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README 未给出明确『开发中』清单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2487168"/>
            <a:ext cx="3191256" cy="2468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320"/>
              </a:spcAft>
            </a:pPr>
            <a:r>
              <a:rPr sz="90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· </a:t>
            </a: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多 Agent 编排、语音、图片输入等高级能力（README 明示第一版范围之外）</a:t>
            </a:r>
          </a:p>
          <a:p>
            <a:pPr algn="l">
              <a:lnSpc>
                <a:spcPct val="110000"/>
              </a:lnSpc>
              <a:spcAft>
                <a:spcPts val="320"/>
              </a:spcAft>
            </a:pPr>
            <a:r>
              <a:rPr sz="90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· </a:t>
            </a: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旧版 Word .doc 二进制格式支持（当前明确提示另存为 xlsx/rtf）</a:t>
            </a:r>
          </a:p>
          <a:p>
            <a:pPr algn="l">
              <a:lnSpc>
                <a:spcPct val="110000"/>
              </a:lnSpc>
              <a:spcAft>
                <a:spcPts val="320"/>
              </a:spcAft>
            </a:pPr>
            <a:r>
              <a:rPr sz="90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· </a:t>
            </a: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更多高校教务布局适配 —— 依赖用户提供脱敏样例逐校打磨</a:t>
            </a:r>
          </a:p>
          <a:p>
            <a:pPr algn="l">
              <a:lnSpc>
                <a:spcPct val="110000"/>
              </a:lnSpc>
              <a:spcAft>
                <a:spcPts val="320"/>
              </a:spcAft>
            </a:pPr>
            <a:r>
              <a:rPr sz="90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· </a:t>
            </a: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【待补充】在研功能清单请以项目方 Issue / Project 看板为准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700784"/>
            <a:ext cx="3502152" cy="3346704"/>
          </a:xfrm>
          <a:prstGeom prst="roundRect">
            <a:avLst>
              <a:gd name="adj" fmla="val 2459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01000" y="1700784"/>
            <a:ext cx="3502152" cy="50292"/>
          </a:xfrm>
          <a:prstGeom prst="roundRect">
            <a:avLst>
              <a:gd name="adj" fmla="val 50000"/>
            </a:avLst>
          </a:prstGeom>
          <a:solidFill>
            <a:srgbClr val="C9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1847088"/>
            <a:ext cx="146304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3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规划中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21824" y="1865376"/>
            <a:ext cx="543306" cy="333121"/>
          </a:xfrm>
          <a:prstGeom prst="roundRect">
            <a:avLst>
              <a:gd name="adj" fmla="val 49409"/>
            </a:avLst>
          </a:prstGeom>
          <a:solidFill>
            <a:srgbClr val="F7F9FC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规划中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2212848"/>
            <a:ext cx="3172968" cy="237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计划书方向的构想，尚无承诺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2487168"/>
            <a:ext cx="3191256" cy="2468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320"/>
              </a:spcAft>
            </a:pPr>
            <a:r>
              <a:rPr sz="90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· </a:t>
            </a: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API 中转服务：面向不愿自备 Key 的用户（详见第 11 页）</a:t>
            </a:r>
          </a:p>
          <a:p>
            <a:pPr algn="l">
              <a:lnSpc>
                <a:spcPct val="110000"/>
              </a:lnSpc>
              <a:spcAft>
                <a:spcPts val="320"/>
              </a:spcAft>
            </a:pPr>
            <a:r>
              <a:rPr sz="90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· </a:t>
            </a: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高校 / 团队定制：教务适配、批量部署与运维支持</a:t>
            </a:r>
          </a:p>
          <a:p>
            <a:pPr algn="l">
              <a:lnSpc>
                <a:spcPct val="110000"/>
              </a:lnSpc>
              <a:spcAft>
                <a:spcPts val="320"/>
              </a:spcAft>
            </a:pPr>
            <a:r>
              <a:rPr sz="90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· </a:t>
            </a: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多端同步与账号体系（当前刻意不做云端账户）</a:t>
            </a:r>
          </a:p>
          <a:p>
            <a:pPr algn="l">
              <a:lnSpc>
                <a:spcPct val="110000"/>
              </a:lnSpc>
              <a:spcAft>
                <a:spcPts val="320"/>
              </a:spcAft>
            </a:pPr>
            <a:r>
              <a:rPr sz="90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· </a:t>
            </a: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社区生态：格式贡献指引、解析用例库（fixture 已起步）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175504"/>
            <a:ext cx="585216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仓库内真实界面截图（docs/screenshots，已脱敏）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468112"/>
            <a:ext cx="2606021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2-ai-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5568696"/>
            <a:ext cx="923525" cy="5669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719053" y="557784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AI 配置页：多配置管理</a:t>
            </a:r>
          </a:p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与连接测试入口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31901" y="5468112"/>
            <a:ext cx="2606021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03-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189" y="5568696"/>
            <a:ext cx="923525" cy="56692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965155" y="557784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未配置 AI 时聊天页</a:t>
            </a:r>
          </a:p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只给引导、不伪造回复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78003" y="5468112"/>
            <a:ext cx="2606021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04-set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291" y="5568696"/>
            <a:ext cx="923525" cy="56692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211257" y="557784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设置页：主题 / 布局 /</a:t>
            </a:r>
          </a:p>
          <a:p>
            <a:pPr algn="l">
              <a:lnSpc>
                <a:spcPct val="108000"/>
              </a:lnSpc>
            </a:pPr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数据导入导出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33895" y="54864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Zhixu Workbench · 创业计划书 </a:t>
            </a:r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| 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12064"/>
            <a:ext cx="512064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 spc="12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PART 04 · 用户与市场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96012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2400" b="1" spc="4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用户与市场假设：先说清楚我们还没验证什么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78992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以下画像与规模判断均为「观察式假设」，来自团队校园生活经验 —— 标注「待验证」的一切，正是本轮要花钱花时间去测的东西。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10512"/>
            <a:ext cx="365760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三类目标用户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39696"/>
            <a:ext cx="5175504" cy="896112"/>
          </a:xfrm>
          <a:prstGeom prst="roundRect">
            <a:avLst>
              <a:gd name="adj" fmla="val 9183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2414015"/>
            <a:ext cx="118872" cy="118872"/>
          </a:xfrm>
          <a:prstGeom prst="ellipse">
            <a:avLst/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231136"/>
            <a:ext cx="466344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种子用户（现在就服务）　</a:t>
            </a:r>
            <a:r>
              <a:rPr sz="11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在校大学生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" y="2505456"/>
            <a:ext cx="462686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90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有课表刚需、每天多次进出教务系统；愿意试用开源工具并反馈格式适配。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82111"/>
            <a:ext cx="5175504" cy="896112"/>
          </a:xfrm>
          <a:prstGeom prst="roundRect">
            <a:avLst>
              <a:gd name="adj" fmla="val 9183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3456431"/>
            <a:ext cx="118872" cy="118872"/>
          </a:xfrm>
          <a:prstGeom prst="ellipse">
            <a:avLst/>
          </a:prstGeom>
          <a:solidFill>
            <a:srgbClr val="A8C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3273551"/>
            <a:ext cx="466344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扩展用户（验证后主攻）　</a:t>
            </a:r>
            <a:r>
              <a:rPr sz="11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研究生 / 青年教师 / 效率工具重度用户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" y="3547871"/>
            <a:ext cx="462686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90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日程密度高、多线任务并行；对数据本地化与隐私敏感，付费意愿待验证。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224527"/>
            <a:ext cx="5175504" cy="896112"/>
          </a:xfrm>
          <a:prstGeom prst="roundRect">
            <a:avLst>
              <a:gd name="adj" fmla="val 9183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0392" y="4498847"/>
            <a:ext cx="118872" cy="118872"/>
          </a:xfrm>
          <a:prstGeom prst="ellipse">
            <a:avLst/>
          </a:prstGeom>
          <a:solidFill>
            <a:srgbClr val="C9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" y="4315967"/>
            <a:ext cx="466344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0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机会型客户（B 端尝试）　</a:t>
            </a:r>
            <a:r>
              <a:rPr sz="11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高校班级 / 社团 / 信息化试点项目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" y="4590288"/>
            <a:ext cx="4626864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90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定制教务适配与批量部署；销售周期长，作为项目制收入而非主线（见 P10/P11）。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2139696"/>
            <a:ext cx="5358384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2267712"/>
            <a:ext cx="493776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市场位置示意（定性定位图，非份额数据）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675887"/>
            <a:ext cx="4443984" cy="12801"/>
          </a:xfrm>
          <a:prstGeom prst="rect">
            <a:avLst/>
          </a:prstGeom>
          <a:solidFill>
            <a:srgbClr val="DE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05672" y="2670048"/>
            <a:ext cx="12801" cy="2011680"/>
          </a:xfrm>
          <a:prstGeom prst="rect">
            <a:avLst/>
          </a:prstGeom>
          <a:solidFill>
            <a:srgbClr val="DE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2450591"/>
            <a:ext cx="219456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云端 / 通用服务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0224" y="2450591"/>
            <a:ext cx="2432304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本地优先 / 个人语境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736592"/>
            <a:ext cx="219456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8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单点工具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4736592"/>
            <a:ext cx="2432304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一体化工作台</a:t>
            </a:r>
          </a:p>
        </p:txBody>
      </p:sp>
      <p:sp>
        <p:nvSpPr>
          <p:cNvPr id="27" name="Oval 26"/>
          <p:cNvSpPr/>
          <p:nvPr/>
        </p:nvSpPr>
        <p:spPr>
          <a:xfrm>
            <a:off x="6903720" y="3017520"/>
            <a:ext cx="118872" cy="118872"/>
          </a:xfrm>
          <a:prstGeom prst="ellipse">
            <a:avLst/>
          </a:prstGeom>
          <a:solidFill>
            <a:srgbClr val="C9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2871215"/>
            <a:ext cx="19202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0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通用聊天 AI</a:t>
            </a:r>
          </a:p>
        </p:txBody>
      </p:sp>
      <p:sp>
        <p:nvSpPr>
          <p:cNvPr id="29" name="Oval 28"/>
          <p:cNvSpPr/>
          <p:nvPr/>
        </p:nvSpPr>
        <p:spPr>
          <a:xfrm>
            <a:off x="8275320" y="3310128"/>
            <a:ext cx="118872" cy="118872"/>
          </a:xfrm>
          <a:prstGeom prst="ellipse">
            <a:avLst/>
          </a:prstGeom>
          <a:solidFill>
            <a:srgbClr val="C9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0" y="3163824"/>
            <a:ext cx="19202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0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笔记 / 日历 App</a:t>
            </a:r>
          </a:p>
        </p:txBody>
      </p:sp>
      <p:sp>
        <p:nvSpPr>
          <p:cNvPr id="31" name="Oval 30"/>
          <p:cNvSpPr/>
          <p:nvPr/>
        </p:nvSpPr>
        <p:spPr>
          <a:xfrm>
            <a:off x="8686800" y="4590288"/>
            <a:ext cx="118872" cy="118872"/>
          </a:xfrm>
          <a:prstGeom prst="ellipse">
            <a:avLst/>
          </a:prstGeom>
          <a:solidFill>
            <a:srgbClr val="C9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9560" y="4443983"/>
            <a:ext cx="19202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0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教务 App / 小程序</a:t>
            </a:r>
          </a:p>
        </p:txBody>
      </p:sp>
      <p:sp>
        <p:nvSpPr>
          <p:cNvPr id="33" name="Oval 32"/>
          <p:cNvSpPr/>
          <p:nvPr/>
        </p:nvSpPr>
        <p:spPr>
          <a:xfrm>
            <a:off x="7040880" y="4480560"/>
            <a:ext cx="118872" cy="118872"/>
          </a:xfrm>
          <a:prstGeom prst="ellipse">
            <a:avLst/>
          </a:prstGeom>
          <a:solidFill>
            <a:srgbClr val="C9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4334256"/>
            <a:ext cx="192024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0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浏览器起始页美化</a:t>
            </a:r>
          </a:p>
        </p:txBody>
      </p:sp>
      <p:sp>
        <p:nvSpPr>
          <p:cNvPr id="35" name="Oval 34"/>
          <p:cNvSpPr/>
          <p:nvPr/>
        </p:nvSpPr>
        <p:spPr>
          <a:xfrm>
            <a:off x="10104120" y="4370832"/>
            <a:ext cx="155448" cy="155448"/>
          </a:xfrm>
          <a:prstGeom prst="ellipse">
            <a:avLst/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8280" y="4201668"/>
            <a:ext cx="219456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智序工作台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4901184"/>
            <a:ext cx="5029200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8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* 位置依据：各类产品的公开形态与功能印象，供讨论用；不构成竞争情报结论。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358384"/>
            <a:ext cx="10820095" cy="987552"/>
          </a:xfrm>
          <a:prstGeom prst="roundRect">
            <a:avLst>
              <a:gd name="adj" fmla="val 7407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5256" y="5468112"/>
            <a:ext cx="329184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规模假设台账（全部待验证）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5742432"/>
            <a:ext cx="3401568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南林在校生可直接触达人数</a:t>
            </a:r>
          </a:p>
          <a:p>
            <a:pPr algn="l">
              <a:lnSpc>
                <a:spcPct val="110000"/>
              </a:lnSpc>
            </a:pPr>
            <a:r>
              <a:rPr sz="8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待补充 · 以教务处 / 学工公开数据为准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25696" y="5742432"/>
            <a:ext cx="3401568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目标院校同类学生总量</a:t>
            </a:r>
          </a:p>
          <a:p>
            <a:pPr algn="l">
              <a:lnSpc>
                <a:spcPct val="110000"/>
              </a:lnSpc>
            </a:pPr>
            <a:r>
              <a:rPr sz="8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待补充 · 计划用问卷 + 访谈估计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46136" y="5742432"/>
            <a:ext cx="3401568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日活跃驱动频次（查课/查天气）</a:t>
            </a:r>
          </a:p>
          <a:p>
            <a:pPr algn="l">
              <a:lnSpc>
                <a:spcPct val="110000"/>
              </a:lnSpc>
            </a:pPr>
            <a:r>
              <a:rPr sz="8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待补充 · 以试点埋点本地统计为准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33895" y="54864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Zhixu Workbench · 创业计划书 </a:t>
            </a:r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| 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12064"/>
            <a:ext cx="512064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 spc="12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PART 04 · 用户与市场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96012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2400" b="1" spc="4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差异化：两个别人不愿做、做不了的取舍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78992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与相邻产品的差异，来自两个反商业直觉的设计决定 —— 本地优先与 BYOK。这也是我们最容易被抄袭、又最难被抄走的部分。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47088"/>
            <a:ext cx="5230368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847088"/>
            <a:ext cx="5230368" cy="56692"/>
          </a:xfrm>
          <a:prstGeom prst="roundRect">
            <a:avLst>
              <a:gd name="adj" fmla="val 48387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2048256"/>
            <a:ext cx="4791456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差异一 · 本地优先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359152"/>
            <a:ext cx="4791456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数据留在你自己的电脑里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688336"/>
            <a:ext cx="4828031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0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· </a:t>
            </a:r>
            <a:r>
              <a:rPr sz="100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浏览器本地存储为唯一主副本，不上传、不经服务器（开源可审计）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0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· </a:t>
            </a:r>
            <a:r>
              <a:rPr sz="100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不配置任何 Key 时，导航 / 课表 / 日程 / 天气照常可用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0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· </a:t>
            </a:r>
            <a:r>
              <a:rPr sz="100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配置与数据可整体导出，还能一键打包无密钥安全分享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3" y="1847088"/>
            <a:ext cx="5230368" cy="2395728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2783" y="1847088"/>
            <a:ext cx="5230368" cy="56692"/>
          </a:xfrm>
          <a:prstGeom prst="roundRect">
            <a:avLst>
              <a:gd name="adj" fmla="val 48387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48256"/>
            <a:ext cx="4791456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4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差异二 · BYOK 自带 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59152"/>
            <a:ext cx="4791456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AI 成本与选择权都在用户手里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88336"/>
            <a:ext cx="4828031" cy="1463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0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· </a:t>
            </a:r>
            <a:r>
              <a:rPr sz="100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10+ 服务商预设与自定义 API，模型自由切换（README 清单）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0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· </a:t>
            </a:r>
            <a:r>
              <a:rPr sz="100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应用不代付、不内购 —— 无统一 AI 服务，也就无额度焦虑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0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· </a:t>
            </a:r>
            <a:r>
              <a:rPr sz="100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我们的护城河由此而来：解析适配、上下文体验、开源信任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43984"/>
            <a:ext cx="640080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与相邻产品的关系：互补大于替代</a:t>
            </a: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（依据各产品公开功能印象，供讨论）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754880"/>
            <a:ext cx="10820095" cy="297180"/>
          </a:xfrm>
          <a:prstGeom prst="roundRect">
            <a:avLst>
              <a:gd name="adj" fmla="val 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796028"/>
            <a:ext cx="246888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通用 AI 聊天工具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4796028"/>
            <a:ext cx="7955279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它没有『今天在干什么』的上下文 —— 可被视为智序调用的引擎之一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108752"/>
            <a:ext cx="10820095" cy="2971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5149900"/>
            <a:ext cx="246888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教务 App / 课程表小程序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0712" y="5149900"/>
            <a:ext cx="7955279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单点查课；不承载导航、备忘与 AI，多为云端账号体系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462625"/>
            <a:ext cx="10820095" cy="297180"/>
          </a:xfrm>
          <a:prstGeom prst="roundRect">
            <a:avLst>
              <a:gd name="adj" fmla="val 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5503773"/>
            <a:ext cx="246888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笔记 / 日历全家桶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0712" y="5503773"/>
            <a:ext cx="7955279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以『记录』为中心而非『打开即用的今天』，配置成本高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816498"/>
            <a:ext cx="10820095" cy="29718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5857646"/>
            <a:ext cx="246888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起始页美化插件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0712" y="5857646"/>
            <a:ext cx="7955279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0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只解决美观，不理解课表 —— 恰好是我们最重的模块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33895" y="54864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Zhixu Workbench · 创业计划书 </a:t>
            </a:r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| 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12064"/>
            <a:ext cx="512064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 spc="12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PART 05 · 商业化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96012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2400" b="1" spc="4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商业模式：先让东西被使用，再让价值被付费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78992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四条候选路径中只有一条是现状，其余均为规划 —— 我们不提供任何收入数字，因为没有。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00784"/>
            <a:ext cx="10820095" cy="841248"/>
          </a:xfrm>
          <a:prstGeom prst="roundRect">
            <a:avLst>
              <a:gd name="adj" fmla="val 9782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6968" y="1828800"/>
            <a:ext cx="1372933" cy="381381"/>
          </a:xfrm>
          <a:prstGeom prst="roundRect">
            <a:avLst>
              <a:gd name="adj" fmla="val 43156"/>
            </a:avLst>
          </a:prstGeom>
          <a:solidFill>
            <a:srgbClr val="FFFFFF"/>
          </a:solidFill>
          <a:ln w="12700">
            <a:solidFill>
              <a:srgbClr val="347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现状 · 开源免费版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1069" y="1828800"/>
            <a:ext cx="8778240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工作台完全免费、代码开源；AI 采用 BYOK（用户自带 API Key），应用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不提供统一 AI 服务、内购或额度代付 —— 因此</a:t>
            </a:r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项目当前没有任何收入</a:t>
            </a:r>
            <a:r>
              <a:rPr sz="10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（仓库 README 可核对）。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43200"/>
            <a:ext cx="5230368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71216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00" b="1" spc="10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9032" y="2862072"/>
            <a:ext cx="3886199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基础工作台与开源生态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85231" y="2871216"/>
            <a:ext cx="435356" cy="333121"/>
          </a:xfrm>
          <a:prstGeom prst="roundRect">
            <a:avLst>
              <a:gd name="adj" fmla="val 49409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现状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00400"/>
            <a:ext cx="4864607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目标不是变现，而是获客与口碑：学生每天必开的起始页；格式适配由真实用户回流打磨。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3" y="2743200"/>
            <a:ext cx="5230368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871216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00" b="1" spc="10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2862072"/>
            <a:ext cx="3753611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个人增值服务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39627" y="2871216"/>
            <a:ext cx="543306" cy="333121"/>
          </a:xfrm>
          <a:prstGeom prst="roundRect">
            <a:avLst>
              <a:gd name="adj" fmla="val 49409"/>
            </a:avLst>
          </a:prstGeom>
          <a:solidFill>
            <a:srgbClr val="F7F9FC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规划中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200400"/>
            <a:ext cx="4864607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候选：多端同步 / 高级面板 / 模板市场等订阅项；先用意愿调查与小范围测试验证，再谈定价。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114800"/>
            <a:ext cx="5230368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42816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00" b="1" spc="10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4233672"/>
            <a:ext cx="2427731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多模型调用服务（API 中转）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26763" y="4242816"/>
            <a:ext cx="1282763" cy="333121"/>
          </a:xfrm>
          <a:prstGeom prst="roundRect">
            <a:avLst>
              <a:gd name="adj" fmla="val 49409"/>
            </a:avLst>
          </a:prstGeom>
          <a:solidFill>
            <a:srgbClr val="F7F9FC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规划 · 详见第 11 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72000"/>
            <a:ext cx="4864607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面向不愿管理 Key 的用户提供统一入口与用量计费；重合规与重现金流，故放在验证链后端。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2783" y="4114800"/>
            <a:ext cx="5230368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55664" y="4242816"/>
            <a:ext cx="45720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00" b="1" spc="10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6016" y="4233672"/>
            <a:ext cx="3753611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高校 / 团队定制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39627" y="4242816"/>
            <a:ext cx="543306" cy="333121"/>
          </a:xfrm>
          <a:prstGeom prst="roundRect">
            <a:avLst>
              <a:gd name="adj" fmla="val 49409"/>
            </a:avLst>
          </a:prstGeom>
          <a:solidFill>
            <a:srgbClr val="F7F9FC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规划中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4572000"/>
            <a:ext cx="4864607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6000"/>
              </a:lnSpc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教务格式深度适配、批量部署与运维支持；销售周期长、非经常性收入，作为机会型业务。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486400"/>
            <a:ext cx="365760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验证顺序（先轻后重）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742432"/>
            <a:ext cx="2395728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47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1  开源口碑与日活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3081527" y="5861304"/>
            <a:ext cx="219456" cy="182880"/>
          </a:xfrm>
          <a:prstGeom prst="rightArrow">
            <a:avLst/>
          </a:prstGeom>
          <a:solidFill>
            <a:srgbClr val="A8C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410712" y="5742432"/>
            <a:ext cx="2395728" cy="420624"/>
          </a:xfrm>
          <a:prstGeom prst="roundRect">
            <a:avLst>
              <a:gd name="adj" fmla="val 50000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2  增值服务小流量试水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5833872" y="5861304"/>
            <a:ext cx="219456" cy="182880"/>
          </a:xfrm>
          <a:prstGeom prst="rightArrow">
            <a:avLst/>
          </a:prstGeom>
          <a:solidFill>
            <a:srgbClr val="A8C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63056" y="5742432"/>
            <a:ext cx="2395728" cy="420624"/>
          </a:xfrm>
          <a:prstGeom prst="roundRect">
            <a:avLst>
              <a:gd name="adj" fmla="val 50000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3  定制订单验证 B 端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586215" y="5861304"/>
            <a:ext cx="219456" cy="182880"/>
          </a:xfrm>
          <a:prstGeom prst="rightArrow">
            <a:avLst/>
          </a:prstGeom>
          <a:solidFill>
            <a:srgbClr val="A8C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15400" y="5742432"/>
            <a:ext cx="2395728" cy="420624"/>
          </a:xfrm>
          <a:prstGeom prst="roundRect">
            <a:avLst>
              <a:gd name="adj" fmla="val 50000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4  中转站规模化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199632"/>
            <a:ext cx="10820095" cy="1828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说明：以上除「现状」外均为计划书设想，无已签约客户与已实现收入；每一步均以验证上一步为前提。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33895" y="54864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Zhixu Workbench · 创业计划书 </a:t>
            </a:r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| 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12064"/>
            <a:ext cx="512064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 spc="12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PART 05 · 商业化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96012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2400" b="1" spc="4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API 中转站：规划中的商业化路径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78992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未立项上线 · 未签署任何上游供应商协议 · 无客户与收入 —— 本页只讲「要做先要答对的题」。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457200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设想中的服务流程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24567" y="1645920"/>
            <a:ext cx="1239583" cy="381381"/>
          </a:xfrm>
          <a:prstGeom prst="roundRect">
            <a:avLst>
              <a:gd name="adj" fmla="val 43156"/>
            </a:avLst>
          </a:prstGeom>
          <a:solidFill>
            <a:srgbClr val="FFFFFF"/>
          </a:solidFill>
          <a:ln w="12700">
            <a:solidFill>
              <a:srgbClr val="3478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规划中 · 未上线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956816"/>
            <a:ext cx="2048256" cy="104241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48256"/>
            <a:ext cx="1810512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1  </a:t>
            </a:r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用户需求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22576"/>
            <a:ext cx="1810512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不愿自管 Key，</a:t>
            </a:r>
          </a:p>
          <a:p>
            <a:pPr algn="l">
              <a:lnSpc>
                <a:spcPct val="112000"/>
              </a:lnSpc>
            </a:pPr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想要开箱即用的模型调用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720340" y="2359152"/>
            <a:ext cx="201168" cy="182880"/>
          </a:xfrm>
          <a:prstGeom prst="rightArrow">
            <a:avLst/>
          </a:prstGeom>
          <a:solidFill>
            <a:srgbClr val="A8C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48940" y="1956816"/>
            <a:ext cx="2048256" cy="104241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7812" y="2048256"/>
            <a:ext cx="1810512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2  </a:t>
            </a:r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模型选择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7812" y="2322576"/>
            <a:ext cx="1810512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按价格 / 能力档位</a:t>
            </a:r>
          </a:p>
          <a:p>
            <a:pPr algn="l">
              <a:lnSpc>
                <a:spcPct val="112000"/>
              </a:lnSpc>
            </a:pPr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推荐多家上游模型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010912" y="2359152"/>
            <a:ext cx="201168" cy="182880"/>
          </a:xfrm>
          <a:prstGeom prst="rightArrow">
            <a:avLst/>
          </a:prstGeom>
          <a:solidFill>
            <a:srgbClr val="A8C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39512" y="1956816"/>
            <a:ext cx="2048256" cy="104241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8384" y="2048256"/>
            <a:ext cx="1810512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3  </a:t>
            </a:r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API 调用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8384" y="2322576"/>
            <a:ext cx="1810512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平台统一鉴权转发，</a:t>
            </a:r>
          </a:p>
          <a:p>
            <a:pPr algn="l">
              <a:lnSpc>
                <a:spcPct val="112000"/>
              </a:lnSpc>
            </a:pPr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密钥集中托管（用户不可见）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301484" y="2359152"/>
            <a:ext cx="201168" cy="182880"/>
          </a:xfrm>
          <a:prstGeom prst="rightArrow">
            <a:avLst/>
          </a:prstGeom>
          <a:solidFill>
            <a:srgbClr val="A8C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30084" y="1956816"/>
            <a:ext cx="2048256" cy="104241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48956" y="2048256"/>
            <a:ext cx="1810512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4  </a:t>
            </a:r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用量与成本统计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8956" y="2322576"/>
            <a:ext cx="1810512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按 token / 次数计量，</a:t>
            </a:r>
          </a:p>
          <a:p>
            <a:pPr algn="l">
              <a:lnSpc>
                <a:spcPct val="112000"/>
              </a:lnSpc>
            </a:pPr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实时成本与毛利核算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592056" y="2359152"/>
            <a:ext cx="201168" cy="182880"/>
          </a:xfrm>
          <a:prstGeom prst="rightArrow">
            <a:avLst/>
          </a:prstGeom>
          <a:solidFill>
            <a:srgbClr val="A8C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20656" y="1956816"/>
            <a:ext cx="2048256" cy="1042415"/>
          </a:xfrm>
          <a:prstGeom prst="roundRect">
            <a:avLst>
              <a:gd name="adj" fmla="val 7017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39528" y="2048256"/>
            <a:ext cx="1810512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5  </a:t>
            </a:r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服务收费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9528" y="2322576"/>
            <a:ext cx="1810512" cy="6035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充值 / 订阅 / 包量，</a:t>
            </a:r>
          </a:p>
          <a:p>
            <a:pPr algn="l">
              <a:lnSpc>
                <a:spcPct val="112000"/>
              </a:lnSpc>
            </a:pPr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差价覆盖成本与运维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310128"/>
            <a:ext cx="548640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要把它做成，必须先回答的五个问题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602736"/>
            <a:ext cx="2084831" cy="1920240"/>
          </a:xfrm>
          <a:prstGeom prst="roundRect">
            <a:avLst>
              <a:gd name="adj" fmla="val 3809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" y="3712463"/>
            <a:ext cx="54864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Q1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57400" y="3712463"/>
            <a:ext cx="422656" cy="321056"/>
          </a:xfrm>
          <a:prstGeom prst="roundRect">
            <a:avLst>
              <a:gd name="adj" fmla="val 50000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合规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" y="4005072"/>
            <a:ext cx="1828799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上游条款与授权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" y="4279392"/>
            <a:ext cx="1847087" cy="1170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各模型服务商 ToS 是否允许转售 / 需何资质？逐家确认并签约之前，中转不启动。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62072" y="3602736"/>
            <a:ext cx="2084831" cy="1920240"/>
          </a:xfrm>
          <a:prstGeom prst="roundRect">
            <a:avLst>
              <a:gd name="adj" fmla="val 3809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90088" y="3712463"/>
            <a:ext cx="54864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Q2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33672" y="3712463"/>
            <a:ext cx="422656" cy="321056"/>
          </a:xfrm>
          <a:prstGeom prst="roundRect">
            <a:avLst>
              <a:gd name="adj" fmla="val 50000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定价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90088" y="4005072"/>
            <a:ext cx="1828799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成本与定价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90088" y="4279392"/>
            <a:ext cx="1847087" cy="1170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建立各模型调用成本簿：采购价 → 售价的毛利要覆盖故障与坏账成本，用真实报价单核算。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38344" y="3602736"/>
            <a:ext cx="2084831" cy="1920240"/>
          </a:xfrm>
          <a:prstGeom prst="roundRect">
            <a:avLst>
              <a:gd name="adj" fmla="val 3809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66359" y="3712463"/>
            <a:ext cx="54864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Q3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9943" y="3712463"/>
            <a:ext cx="422656" cy="321056"/>
          </a:xfrm>
          <a:prstGeom prst="roundRect">
            <a:avLst>
              <a:gd name="adj" fmla="val 50000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安全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59" y="4005072"/>
            <a:ext cx="1828799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密钥与权限安全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66359" y="4279392"/>
            <a:ext cx="1847087" cy="1170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平台托管密钥的隔离、轮换、最小权限；杜绝越权调用与被盗刷 —— 技术方案先行评审。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14616" y="3602736"/>
            <a:ext cx="2084831" cy="1920240"/>
          </a:xfrm>
          <a:prstGeom prst="roundRect">
            <a:avLst>
              <a:gd name="adj" fmla="val 3809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42631" y="3712463"/>
            <a:ext cx="54864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Q4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86216" y="3712463"/>
            <a:ext cx="422656" cy="321056"/>
          </a:xfrm>
          <a:prstGeom prst="roundRect">
            <a:avLst>
              <a:gd name="adj" fmla="val 50000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42631" y="4005072"/>
            <a:ext cx="1828799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计费与稳定性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42631" y="4279392"/>
            <a:ext cx="1847087" cy="1170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用量计量可审计、日志完整、异常与限流处理、账单争议流程；SLO 要匹配「学生付得起的钱」。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90888" y="3602736"/>
            <a:ext cx="2084831" cy="1920240"/>
          </a:xfrm>
          <a:prstGeom prst="roundRect">
            <a:avLst>
              <a:gd name="adj" fmla="val 3809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18904" y="3712463"/>
            <a:ext cx="54864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Q5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762488" y="3712463"/>
            <a:ext cx="422656" cy="321056"/>
          </a:xfrm>
          <a:prstGeom prst="roundRect">
            <a:avLst>
              <a:gd name="adj" fmla="val 50000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隐私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18904" y="4005072"/>
            <a:ext cx="1828799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隐私与数据处理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18904" y="4279392"/>
            <a:ext cx="1847087" cy="1170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中转必然可见用户消息：留存期限、脱敏策略、用户知情同意，需写入服务协议并公开。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5800" y="5705856"/>
            <a:ext cx="10820095" cy="566928"/>
          </a:xfrm>
          <a:prstGeom prst="roundRect">
            <a:avLst>
              <a:gd name="adj" fmla="val 12903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5256" y="5815584"/>
            <a:ext cx="10381183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与第一性原则的关系：</a:t>
            </a:r>
            <a:r>
              <a:rPr sz="100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中转与「本地优先」存在天然张力 —— 若上线，将把透明计费、最小留存与随时退回 BYOK 模式作为产品红线。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33895" y="54864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Zhixu Workbench · 创业计划书 </a:t>
            </a:r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| 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12064"/>
            <a:ext cx="512064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 spc="12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PART 06 · 财务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96012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2400" b="1" spc="4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财务逻辑：先给诚实的 0，再给可检验的假设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81328"/>
            <a:ext cx="10820095" cy="603504"/>
          </a:xfrm>
          <a:prstGeom prst="roundRect">
            <a:avLst>
              <a:gd name="adj" fmla="val 12121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591056"/>
            <a:ext cx="10381183" cy="4023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事实基线：项目尚无收入、无付费用户、无历史财务数据。</a:t>
            </a:r>
            <a:r>
              <a:rPr sz="11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本页右侧为情景假设模型 —— 用于展示盈利逻辑与变量敏感性，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所有蓝色标注均为「假设」，等待真实报价单与实测数据替换，不构成业绩承诺。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40864"/>
            <a:ext cx="365760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收入结构（均为规划）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51760"/>
            <a:ext cx="5175504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743200"/>
            <a:ext cx="1481328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订阅增值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86584" y="2724912"/>
            <a:ext cx="1352296" cy="321056"/>
          </a:xfrm>
          <a:prstGeom prst="roundRect">
            <a:avLst>
              <a:gd name="adj" fmla="val 50000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ARPU 假设 20–30 元/月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072384"/>
            <a:ext cx="489204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桌面端同步 / 高级面板等订阅；参考同类工具学生定价。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566160"/>
            <a:ext cx="5175504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657600"/>
            <a:ext cx="1481328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调用差价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86584" y="3639312"/>
            <a:ext cx="1118615" cy="321056"/>
          </a:xfrm>
          <a:prstGeom prst="roundRect">
            <a:avLst>
              <a:gd name="adj" fmla="val 50000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毛利率假设 35–45%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986784"/>
            <a:ext cx="489204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中转服务对调用量加成；毛利由上游采购价决定。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480560"/>
            <a:ext cx="5175504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572000"/>
            <a:ext cx="1481328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定制服务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86584" y="4553712"/>
            <a:ext cx="1032256" cy="321056"/>
          </a:xfrm>
          <a:prstGeom prst="roundRect">
            <a:avLst>
              <a:gd name="adj" fmla="val 50000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8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客单与周期未询价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901184"/>
            <a:ext cx="489204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高校 / 团队项目制收费，非经常性收入。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468112"/>
            <a:ext cx="5175504" cy="804672"/>
          </a:xfrm>
          <a:prstGeom prst="roundRect">
            <a:avLst>
              <a:gd name="adj" fmla="val 909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559552"/>
            <a:ext cx="4892040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单位经济（假设代入）：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单用户月毛利 = ARPU ×综合毛利率；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盈亏平衡付费用户数 = 月固定成本 ÷ 单用户月毛利（见右表末行）。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2340864"/>
            <a:ext cx="457200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12 个月情景测算（全部为假设）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2651760"/>
            <a:ext cx="2395728" cy="391363"/>
          </a:xfrm>
          <a:prstGeom prst="rect">
            <a:avLst/>
          </a:prstGeom>
          <a:solidFill>
            <a:srgbClr val="EEF5FF"/>
          </a:solidFill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4496" y="2660903"/>
            <a:ext cx="2212848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假设项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40496" y="2651760"/>
            <a:ext cx="969264" cy="391363"/>
          </a:xfrm>
          <a:prstGeom prst="rect">
            <a:avLst/>
          </a:prstGeom>
          <a:solidFill>
            <a:srgbClr val="EEF5FF"/>
          </a:solidFill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86216" y="2660903"/>
            <a:ext cx="877824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保守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0" y="2651760"/>
            <a:ext cx="969264" cy="391363"/>
          </a:xfrm>
          <a:prstGeom prst="rect">
            <a:avLst/>
          </a:prstGeom>
          <a:solidFill>
            <a:srgbClr val="EEF5FF"/>
          </a:solidFill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660903"/>
            <a:ext cx="877824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中性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79024" y="2651760"/>
            <a:ext cx="969264" cy="391363"/>
          </a:xfrm>
          <a:prstGeom prst="rect">
            <a:avLst/>
          </a:prstGeom>
          <a:solidFill>
            <a:srgbClr val="EEF5FF"/>
          </a:solidFill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24744" y="2660903"/>
            <a:ext cx="877824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乐观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4768" y="3043123"/>
            <a:ext cx="2395728" cy="391363"/>
          </a:xfrm>
          <a:prstGeom prst="rect">
            <a:avLst/>
          </a:prstGeom>
          <a:noFill/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54496" y="3052267"/>
            <a:ext cx="2212848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付费用户（人）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40496" y="3043123"/>
            <a:ext cx="969264" cy="391363"/>
          </a:xfrm>
          <a:prstGeom prst="rect">
            <a:avLst/>
          </a:prstGeom>
          <a:noFill/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86216" y="3052267"/>
            <a:ext cx="877824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300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760" y="3043123"/>
            <a:ext cx="969264" cy="391363"/>
          </a:xfrm>
          <a:prstGeom prst="rect">
            <a:avLst/>
          </a:prstGeom>
          <a:noFill/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55480" y="3052267"/>
            <a:ext cx="877824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1,200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479024" y="3043123"/>
            <a:ext cx="969264" cy="391363"/>
          </a:xfrm>
          <a:prstGeom prst="rect">
            <a:avLst/>
          </a:prstGeom>
          <a:noFill/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24744" y="3052267"/>
            <a:ext cx="877824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4,000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44768" y="3434486"/>
            <a:ext cx="2395728" cy="391363"/>
          </a:xfrm>
          <a:prstGeom prst="rect">
            <a:avLst/>
          </a:prstGeom>
          <a:noFill/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54496" y="3443630"/>
            <a:ext cx="2212848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月客单价 ARPU（元）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40496" y="3434486"/>
            <a:ext cx="969264" cy="391363"/>
          </a:xfrm>
          <a:prstGeom prst="rect">
            <a:avLst/>
          </a:prstGeom>
          <a:noFill/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86216" y="3443630"/>
            <a:ext cx="877824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09760" y="3434486"/>
            <a:ext cx="969264" cy="391363"/>
          </a:xfrm>
          <a:prstGeom prst="rect">
            <a:avLst/>
          </a:prstGeom>
          <a:noFill/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55480" y="3443630"/>
            <a:ext cx="877824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479024" y="3434486"/>
            <a:ext cx="969264" cy="391363"/>
          </a:xfrm>
          <a:prstGeom prst="rect">
            <a:avLst/>
          </a:prstGeom>
          <a:noFill/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24744" y="3443630"/>
            <a:ext cx="877824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3825849"/>
            <a:ext cx="2395728" cy="391363"/>
          </a:xfrm>
          <a:prstGeom prst="rect">
            <a:avLst/>
          </a:prstGeom>
          <a:noFill/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54496" y="3834993"/>
            <a:ext cx="2212848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综合毛利率（×ARPU）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40496" y="3825849"/>
            <a:ext cx="969264" cy="391363"/>
          </a:xfrm>
          <a:prstGeom prst="rect">
            <a:avLst/>
          </a:prstGeom>
          <a:noFill/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86216" y="3834993"/>
            <a:ext cx="877824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65%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09760" y="3825849"/>
            <a:ext cx="969264" cy="391363"/>
          </a:xfrm>
          <a:prstGeom prst="rect">
            <a:avLst/>
          </a:prstGeom>
          <a:noFill/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55480" y="3834993"/>
            <a:ext cx="877824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70%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479024" y="3825849"/>
            <a:ext cx="969264" cy="391363"/>
          </a:xfrm>
          <a:prstGeom prst="rect">
            <a:avLst/>
          </a:prstGeom>
          <a:noFill/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24744" y="3834993"/>
            <a:ext cx="877824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72%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44768" y="4217212"/>
            <a:ext cx="2395728" cy="391363"/>
          </a:xfrm>
          <a:prstGeom prst="rect">
            <a:avLst/>
          </a:prstGeom>
          <a:noFill/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54496" y="4226356"/>
            <a:ext cx="2212848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月固定运营成本（元）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40496" y="4217212"/>
            <a:ext cx="969264" cy="391363"/>
          </a:xfrm>
          <a:prstGeom prst="rect">
            <a:avLst/>
          </a:prstGeom>
          <a:noFill/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86216" y="4226356"/>
            <a:ext cx="877824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6,000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09760" y="4217212"/>
            <a:ext cx="969264" cy="391363"/>
          </a:xfrm>
          <a:prstGeom prst="rect">
            <a:avLst/>
          </a:prstGeom>
          <a:noFill/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55480" y="4226356"/>
            <a:ext cx="877824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15,000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479024" y="4217212"/>
            <a:ext cx="969264" cy="391363"/>
          </a:xfrm>
          <a:prstGeom prst="rect">
            <a:avLst/>
          </a:prstGeom>
          <a:noFill/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524744" y="4226356"/>
            <a:ext cx="877824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30,000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44768" y="4608576"/>
            <a:ext cx="2395728" cy="391363"/>
          </a:xfrm>
          <a:prstGeom prst="rect">
            <a:avLst/>
          </a:prstGeom>
          <a:solidFill>
            <a:srgbClr val="F7F9FC"/>
          </a:solidFill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54496" y="4617720"/>
            <a:ext cx="2212848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获客成本 CAC（元/人）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40496" y="4608576"/>
            <a:ext cx="969264" cy="391363"/>
          </a:xfrm>
          <a:prstGeom prst="rect">
            <a:avLst/>
          </a:prstGeom>
          <a:solidFill>
            <a:srgbClr val="F7F9FC"/>
          </a:solidFill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586216" y="4617720"/>
            <a:ext cx="877824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09760" y="4608576"/>
            <a:ext cx="969264" cy="391363"/>
          </a:xfrm>
          <a:prstGeom prst="rect">
            <a:avLst/>
          </a:prstGeom>
          <a:solidFill>
            <a:srgbClr val="F7F9FC"/>
          </a:solidFill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55480" y="4617720"/>
            <a:ext cx="877824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479024" y="4608576"/>
            <a:ext cx="969264" cy="391363"/>
          </a:xfrm>
          <a:prstGeom prst="rect">
            <a:avLst/>
          </a:prstGeom>
          <a:solidFill>
            <a:srgbClr val="F7F9FC"/>
          </a:solidFill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524744" y="4617720"/>
            <a:ext cx="877824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44768" y="4999939"/>
            <a:ext cx="2395728" cy="391363"/>
          </a:xfrm>
          <a:prstGeom prst="rect">
            <a:avLst/>
          </a:prstGeom>
          <a:solidFill>
            <a:srgbClr val="F7F9FC"/>
          </a:solidFill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54496" y="5009083"/>
            <a:ext cx="2212848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月经营利润（元）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40496" y="4999939"/>
            <a:ext cx="969264" cy="391363"/>
          </a:xfrm>
          <a:prstGeom prst="rect">
            <a:avLst/>
          </a:prstGeom>
          <a:solidFill>
            <a:srgbClr val="F7F9FC"/>
          </a:solidFill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86216" y="5009083"/>
            <a:ext cx="877824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−2,100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09760" y="4999939"/>
            <a:ext cx="969264" cy="391363"/>
          </a:xfrm>
          <a:prstGeom prst="rect">
            <a:avLst/>
          </a:prstGeom>
          <a:solidFill>
            <a:srgbClr val="F7F9FC"/>
          </a:solidFill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555480" y="5009083"/>
            <a:ext cx="877824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+6,000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479024" y="4999939"/>
            <a:ext cx="969264" cy="391363"/>
          </a:xfrm>
          <a:prstGeom prst="rect">
            <a:avLst/>
          </a:prstGeom>
          <a:solidFill>
            <a:srgbClr val="F7F9FC"/>
          </a:solidFill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524744" y="5009083"/>
            <a:ext cx="877824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+56,400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44768" y="5391302"/>
            <a:ext cx="2395728" cy="391363"/>
          </a:xfrm>
          <a:prstGeom prst="rect">
            <a:avLst/>
          </a:prstGeom>
          <a:noFill/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54496" y="5400446"/>
            <a:ext cx="2212848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9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盈亏平衡用户数（人）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540496" y="5391302"/>
            <a:ext cx="969264" cy="391363"/>
          </a:xfrm>
          <a:prstGeom prst="rect">
            <a:avLst/>
          </a:prstGeom>
          <a:noFill/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586216" y="5400446"/>
            <a:ext cx="877824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≈462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509760" y="5391302"/>
            <a:ext cx="969264" cy="391363"/>
          </a:xfrm>
          <a:prstGeom prst="rect">
            <a:avLst/>
          </a:prstGeom>
          <a:noFill/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555480" y="5400446"/>
            <a:ext cx="877824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≈857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479024" y="5391302"/>
            <a:ext cx="969264" cy="391363"/>
          </a:xfrm>
          <a:prstGeom prst="rect">
            <a:avLst/>
          </a:prstGeom>
          <a:noFill/>
          <a:ln w="635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524744" y="5400446"/>
            <a:ext cx="877824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/>
            <a:r>
              <a:rPr sz="9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≈1,389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44768" y="5837529"/>
            <a:ext cx="5797296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读法：中性情景下约 857 名付费用户跨越盈亏平衡线，对应「订阅 + 轻度调用」混合；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CAC 回收期假设 1–2 个月毛利。表中任意一个假设失效，结论即改变 —— 这正是需要融资数据验证的原因。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33895" y="54864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Zhixu Workbench · 创业计划书 </a:t>
            </a:r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| 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12064"/>
            <a:ext cx="512064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 spc="12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PART 07 · 融资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96012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2400" b="1" spc="4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融资计划：150 万元天使轮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2587752" cy="1481328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73936"/>
            <a:ext cx="2221992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融资金额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2221992" cy="5669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3000" b="1">
                <a:solidFill>
                  <a:srgbClr val="3478F6"/>
                </a:solidFill>
                <a:latin typeface="Segoe UI"/>
                <a:ea typeface="Microsoft YaHei"/>
                <a:cs typeface="Microsoft YaHei"/>
              </a:rPr>
              <a:t>150</a:t>
            </a:r>
            <a:r>
              <a:rPr sz="120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 万元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70048"/>
            <a:ext cx="2221992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天使轮 · 现金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3572" y="1645920"/>
            <a:ext cx="2587752" cy="1481328"/>
          </a:xfrm>
          <a:prstGeom prst="roundRect">
            <a:avLst>
              <a:gd name="adj" fmla="val 5555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6452" y="1773936"/>
            <a:ext cx="2221992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出让股权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6452" y="1993392"/>
            <a:ext cx="2221992" cy="5669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3000" b="1">
                <a:solidFill>
                  <a:srgbClr val="3478F6"/>
                </a:solidFill>
                <a:latin typeface="Segoe UI"/>
                <a:ea typeface="Microsoft YaHei"/>
                <a:cs typeface="Microsoft YaHei"/>
              </a:rPr>
              <a:t>15</a:t>
            </a:r>
            <a:r>
              <a:rPr sz="120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6452" y="2670048"/>
            <a:ext cx="2221992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投后口径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45920"/>
            <a:ext cx="2587752" cy="1481328"/>
          </a:xfrm>
          <a:prstGeom prst="roundRect">
            <a:avLst>
              <a:gd name="adj" fmla="val 5555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773936"/>
            <a:ext cx="2221992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投后估值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1993392"/>
            <a:ext cx="2221992" cy="5669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3000" b="1">
                <a:solidFill>
                  <a:srgbClr val="3478F6"/>
                </a:solidFill>
                <a:latin typeface="Segoe UI"/>
                <a:ea typeface="Microsoft YaHei"/>
                <a:cs typeface="Microsoft YaHei"/>
              </a:rPr>
              <a:t>1,000</a:t>
            </a:r>
            <a:r>
              <a:rPr sz="120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 万元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670048"/>
            <a:ext cx="2221992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= 150 ÷ 15%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29116" y="1645920"/>
            <a:ext cx="2587752" cy="1481328"/>
          </a:xfrm>
          <a:prstGeom prst="roundRect">
            <a:avLst>
              <a:gd name="adj" fmla="val 5555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1996" y="1773936"/>
            <a:ext cx="2221992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投前估值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1996" y="1993392"/>
            <a:ext cx="2221992" cy="5669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3000" b="1">
                <a:solidFill>
                  <a:srgbClr val="3478F6"/>
                </a:solidFill>
                <a:latin typeface="Segoe UI"/>
                <a:ea typeface="Microsoft YaHei"/>
                <a:cs typeface="Microsoft YaHei"/>
              </a:rPr>
              <a:t>850</a:t>
            </a:r>
            <a:r>
              <a:rPr sz="120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 万元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1996" y="2670048"/>
            <a:ext cx="2221992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= 1,000 − 150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291840"/>
            <a:ext cx="10820095" cy="402336"/>
          </a:xfrm>
          <a:prstGeom prst="roundRect">
            <a:avLst>
              <a:gd name="adj" fmla="val 18181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3291840"/>
            <a:ext cx="10381183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口径校验：</a:t>
            </a: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投后估值 = 150 ÷ 15% = 1,000 万元；投前 = 1,000 − 150 = 850 万元。估值为计划书提案口径，未做第三方评估，最终以尽调与谈判为准。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77056"/>
            <a:ext cx="548640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资金用途（方向性安排 —— 不预设比例，随里程碑与投资人共同确定）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187952"/>
            <a:ext cx="3502152" cy="1737360"/>
          </a:xfrm>
          <a:prstGeom prst="roundRect">
            <a:avLst>
              <a:gd name="adj" fmla="val 4736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4187952"/>
            <a:ext cx="50292" cy="1737360"/>
          </a:xfrm>
          <a:prstGeom prst="roundRect">
            <a:avLst>
              <a:gd name="adj" fmla="val 45454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315968"/>
            <a:ext cx="3136392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用途 1 · API 中转站建设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626864"/>
            <a:ext cx="3154680" cy="8961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· </a:t>
            </a: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中转服务、用量计量与计费系统开发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· </a:t>
            </a: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安全合规建设：密钥托管 / 审计日志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· </a:t>
            </a: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多上游供应商接入的工程适配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541264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对应第 11 页规划 · 启动前置条件为其 Q1–Q5 关闭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4187952"/>
            <a:ext cx="3502152" cy="1737360"/>
          </a:xfrm>
          <a:prstGeom prst="roundRect">
            <a:avLst>
              <a:gd name="adj" fmla="val 4736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43400" y="4187952"/>
            <a:ext cx="50292" cy="1737360"/>
          </a:xfrm>
          <a:prstGeom prst="roundRect">
            <a:avLst>
              <a:gd name="adj" fmla="val 45454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4315968"/>
            <a:ext cx="3136392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用途 2 · 上游算力垫资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626864"/>
            <a:ext cx="3154680" cy="8961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· </a:t>
            </a: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按真实调用量向模型厂商预付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· </a:t>
            </a: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规模爬坡期的现金流占位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· </a:t>
            </a: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为院校定制的项目履约备用金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5541264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金额由采购账期与用量决定 · 报价单尽调时提供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0" y="4187952"/>
            <a:ext cx="3502152" cy="1737360"/>
          </a:xfrm>
          <a:prstGeom prst="roundRect">
            <a:avLst>
              <a:gd name="adj" fmla="val 4736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01000" y="4187952"/>
            <a:ext cx="50292" cy="1737360"/>
          </a:xfrm>
          <a:prstGeom prst="roundRect">
            <a:avLst>
              <a:gd name="adj" fmla="val 45454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79" y="4315968"/>
            <a:ext cx="3136392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用途 3 · 市场推广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4626864"/>
            <a:ext cx="3154680" cy="89611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· </a:t>
            </a: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高校渠道：社团 / 信息化处合作试点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· </a:t>
            </a: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开源社区与内容运营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· </a:t>
            </a: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种子用户补贴与增长实验预算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79" y="5541264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以第 10 页验证顺序为投放节奏 · 单渠道测算后申请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6071616"/>
            <a:ext cx="10820095" cy="457200"/>
          </a:xfrm>
          <a:prstGeom prst="roundRect">
            <a:avLst>
              <a:gd name="adj" fmla="val 16000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6071616"/>
            <a:ext cx="10381183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本轮想换来什么：</a:t>
            </a:r>
            <a:r>
              <a:rPr sz="10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一个能跑通的商业化闭环（中转站上线 + 首批付费验证 + 1-2 个校园试点），而不是一张更大的增长曲线。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33895" y="54864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Zhixu Workbench · 创业计划书 </a:t>
            </a:r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| 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12064"/>
            <a:ext cx="512064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 spc="12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PART 07 · 融资与展望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96012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2400" b="1" spc="4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发展规划：五条线，按验证节奏推进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78992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1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已完成的 v1 功能（开源仓库可查）之上，本页全部为建议规划 —— 不含承诺时间点，节奏由验证结果决定。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55648"/>
            <a:ext cx="155448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五条工作线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5728" y="1755648"/>
            <a:ext cx="914400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← 近 6 个月 · 建议规划　　|　　6–12 个月 · 建议规划　　|　　12 个月后 · 视验证结果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48255"/>
            <a:ext cx="50292" cy="749808"/>
          </a:xfrm>
          <a:prstGeom prst="roundRect">
            <a:avLst>
              <a:gd name="adj" fmla="val 36363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2286000"/>
            <a:ext cx="16002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产品完善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95728" y="2121408"/>
            <a:ext cx="2834640" cy="585215"/>
          </a:xfrm>
          <a:prstGeom prst="roundRect">
            <a:avLst>
              <a:gd name="adj" fmla="val 12500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2121408"/>
            <a:ext cx="2596896" cy="5669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打磨工作台体验：面板布局个性化、解析稳定性与更多教务版式适配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98063"/>
            <a:ext cx="50292" cy="749808"/>
          </a:xfrm>
          <a:prstGeom prst="roundRect">
            <a:avLst>
              <a:gd name="adj" fmla="val 36363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3035808"/>
            <a:ext cx="16002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95728" y="2871215"/>
            <a:ext cx="2834640" cy="585215"/>
          </a:xfrm>
          <a:prstGeom prst="roundRect">
            <a:avLst>
              <a:gd name="adj" fmla="val 12500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2871215"/>
            <a:ext cx="2596896" cy="5669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上下文助手增强：建议质量、日程冲突提醒（规划）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60" y="2871215"/>
            <a:ext cx="2834639" cy="585215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13832" y="2871215"/>
            <a:ext cx="2596895" cy="5669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从「有问必答」到「主动提醒」：按周记忆与复盘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94192" y="2871215"/>
            <a:ext cx="3111703" cy="58521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13064" y="2871215"/>
            <a:ext cx="2873959" cy="5669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多 Agent / 语音 / 图片等高级能力（README 明示范围之外，规划）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547871"/>
            <a:ext cx="50292" cy="749808"/>
          </a:xfrm>
          <a:prstGeom prst="roundRect">
            <a:avLst>
              <a:gd name="adj" fmla="val 36363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" y="3785615"/>
            <a:ext cx="16002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隐私安全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95728" y="3621023"/>
            <a:ext cx="2834640" cy="585215"/>
          </a:xfrm>
          <a:prstGeom prst="roundRect">
            <a:avLst>
              <a:gd name="adj" fmla="val 12500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621023"/>
            <a:ext cx="2596896" cy="5669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密钥管理加强：评估系统凭据库接入（README 已知限制清单）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94960" y="3621023"/>
            <a:ext cx="2834639" cy="585215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13832" y="3621023"/>
            <a:ext cx="2596895" cy="5669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数据导出与脱敏策略文档化、公开可审计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94192" y="3621023"/>
            <a:ext cx="3111703" cy="58521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13064" y="3621023"/>
            <a:ext cx="2873959" cy="5669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中转服务若上线：独立安全评审 + 最小留存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297679"/>
            <a:ext cx="50292" cy="749808"/>
          </a:xfrm>
          <a:prstGeom prst="roundRect">
            <a:avLst>
              <a:gd name="adj" fmla="val 36363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" y="4535423"/>
            <a:ext cx="16002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商业探索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94960" y="4370831"/>
            <a:ext cx="2834639" cy="585215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13832" y="4370831"/>
            <a:ext cx="2596895" cy="5669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API 中转站三关验证：合规 → 成本 → 需求（第 11 页 Q1–Q5）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94192" y="4370831"/>
            <a:ext cx="3111703" cy="58521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13064" y="4370831"/>
            <a:ext cx="2873959" cy="5669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院校定制小单试接：以教务适配能力换履约经验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047488"/>
            <a:ext cx="50292" cy="749808"/>
          </a:xfrm>
          <a:prstGeom prst="roundRect">
            <a:avLst>
              <a:gd name="adj" fmla="val 36363"/>
            </a:avLst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" y="5285231"/>
            <a:ext cx="16002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用户增长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95728" y="5120640"/>
            <a:ext cx="2834640" cy="585215"/>
          </a:xfrm>
          <a:prstGeom prst="roundRect">
            <a:avLst>
              <a:gd name="adj" fmla="val 12500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14600" y="5120640"/>
            <a:ext cx="2596896" cy="5669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高校场景测试：本校 1–2 个班试点 + 10–15 人访谈（计划，未启动）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94960" y="5120640"/>
            <a:ext cx="2834639" cy="585215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13832" y="5120640"/>
            <a:ext cx="2596895" cy="5669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反馈回流课表格式适配；开源社区与内容运营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94192" y="5120640"/>
            <a:ext cx="3111703" cy="585215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13064" y="5120640"/>
            <a:ext cx="2873959" cy="5669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跨校扩散：以解析格式覆盖换试点院校清单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" y="1737360"/>
            <a:ext cx="10972" cy="3950208"/>
          </a:xfrm>
          <a:prstGeom prst="rect">
            <a:avLst/>
          </a:prstGeom>
          <a:solidFill>
            <a:srgbClr val="DE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285232" y="1737360"/>
            <a:ext cx="10972" cy="3950208"/>
          </a:xfrm>
          <a:prstGeom prst="rect">
            <a:avLst/>
          </a:prstGeom>
          <a:solidFill>
            <a:srgbClr val="DE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84464" y="1737360"/>
            <a:ext cx="10972" cy="3950208"/>
          </a:xfrm>
          <a:prstGeom prst="rect">
            <a:avLst/>
          </a:prstGeom>
          <a:solidFill>
            <a:srgbClr val="DE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85800" y="5888736"/>
            <a:ext cx="10820095" cy="457200"/>
          </a:xfrm>
          <a:prstGeom prst="roundRect">
            <a:avLst>
              <a:gd name="adj" fmla="val 16000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6" y="5888736"/>
            <a:ext cx="10381183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Gate 制推进：</a:t>
            </a:r>
            <a:r>
              <a:rPr sz="10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每条线只在上一阶段拿到真实反馈/数据后才加码；商业探索以「需求、成本、合规」三问全过为启动前提。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33895" y="54864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Zhixu Workbench · 创业计划书 </a:t>
            </a:r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| 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12064"/>
            <a:ext cx="512064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 spc="12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PART 07 · 融资与展望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68096"/>
            <a:ext cx="9601200" cy="5029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2400" b="1" spc="4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团队与风险：把问题摊开，把价值说透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17904"/>
            <a:ext cx="10820095" cy="877824"/>
          </a:xfrm>
          <a:prstGeom prst="roundRect">
            <a:avLst>
              <a:gd name="adj" fmla="val 9375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645920"/>
            <a:ext cx="274320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团队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" y="1920240"/>
            <a:ext cx="10332720" cy="3840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南京林业大学 · 25108011 班 · 团队成员：XXX</a:t>
            </a: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　（成员姓名为占位符，正式报名信息以报名表为准）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15184"/>
            <a:ext cx="4572000" cy="2560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2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风险与应对（全部为事前判断，非事后总结）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07792"/>
            <a:ext cx="10820095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13816" y="3049524"/>
            <a:ext cx="137160" cy="137160"/>
          </a:xfrm>
          <a:prstGeom prst="ellipse">
            <a:avLst/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" y="3058668"/>
            <a:ext cx="137160" cy="12801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8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003804"/>
            <a:ext cx="306324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模型供应商依赖与价格波动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2958084"/>
            <a:ext cx="6979615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应对  </a:t>
            </a:r>
            <a:r>
              <a:rPr sz="9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BYOK 天然解耦：单模型故障可即时切换；中转业务仅在上游合同与多上游冗余就绪后启动。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1568"/>
            <a:ext cx="10820095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3816" y="3543300"/>
            <a:ext cx="137160" cy="137160"/>
          </a:xfrm>
          <a:prstGeom prst="ellipse">
            <a:avLst/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" y="3552444"/>
            <a:ext cx="137160" cy="12801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8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3497580"/>
            <a:ext cx="306324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API 服务成本与资金压力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3451860"/>
            <a:ext cx="6979615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应对  </a:t>
            </a:r>
            <a:r>
              <a:rPr sz="9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毛利按 35–45% 假设做三情景压力测试（P12）；算力垫资分阶段，先小规模跑通计费再放量。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895344"/>
            <a:ext cx="10820095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3816" y="4037076"/>
            <a:ext cx="137160" cy="137160"/>
          </a:xfrm>
          <a:prstGeom prst="ellipse">
            <a:avLst/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" y="4046220"/>
            <a:ext cx="137160" cy="12801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8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3991356"/>
            <a:ext cx="306324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用户隐私与密钥安全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3945635"/>
            <a:ext cx="6979615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应对  </a:t>
            </a:r>
            <a:r>
              <a:rPr sz="9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本地优先是第一道防线；推凭据存储接入与加密导出；中转坚持最小可见原则，公开留存政策。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389120"/>
            <a:ext cx="10820095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3816" y="4530852"/>
            <a:ext cx="137160" cy="137160"/>
          </a:xfrm>
          <a:prstGeom prst="ellipse">
            <a:avLst/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" y="4539996"/>
            <a:ext cx="137160" cy="12801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8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4485132"/>
            <a:ext cx="306324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产品功能与真实需求错配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5112" y="4439412"/>
            <a:ext cx="6979615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应对  </a:t>
            </a:r>
            <a:r>
              <a:rPr sz="9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上线前做 10–15 人访谈 + 本校班级试点；开源仓库的 issues 与讨论作为需求校验通道。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882896"/>
            <a:ext cx="10820095" cy="420624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5EA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3816" y="5024628"/>
            <a:ext cx="137160" cy="137160"/>
          </a:xfrm>
          <a:prstGeom prst="ellipse">
            <a:avLst/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" y="5033772"/>
            <a:ext cx="137160" cy="12801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80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" y="4978908"/>
            <a:ext cx="306324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/>
            <a:r>
              <a:rPr sz="10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商业化进度与用户增长不确定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5112" y="4933188"/>
            <a:ext cx="6979615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</a:pPr>
            <a:r>
              <a:rPr sz="85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应对  </a:t>
            </a:r>
            <a:r>
              <a:rPr sz="9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以验证顺序推进（P10），设 Gate 制里程碑；先免费留存，中转与定制收入双路径分时段验证。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504688"/>
            <a:ext cx="10820095" cy="566928"/>
          </a:xfrm>
          <a:prstGeom prst="roundRect">
            <a:avLst>
              <a:gd name="adj" fmla="val 14516"/>
            </a:avLst>
          </a:prstGeom>
          <a:solidFill>
            <a:srgbClr val="EE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5800" y="5504688"/>
            <a:ext cx="50292" cy="566928"/>
          </a:xfrm>
          <a:prstGeom prst="rect">
            <a:avLst/>
          </a:prstGeom>
          <a:solidFill>
            <a:srgbClr val="347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5504688"/>
            <a:ext cx="10326319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1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智序工作台把导航、课表、日程、天气与 AI 助手整合到一个工作台，</a:t>
            </a:r>
          </a:p>
          <a:p>
            <a:pPr algn="ctr">
              <a:lnSpc>
                <a:spcPct val="130000"/>
              </a:lnSpc>
            </a:pPr>
            <a:r>
              <a:rPr sz="1150" b="1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通过场景上下文和本地优先的设计，</a:t>
            </a:r>
            <a:r>
              <a:rPr sz="1150" b="0">
                <a:solidFill>
                  <a:srgbClr val="243247"/>
                </a:solidFill>
                <a:latin typeface="Segoe UI"/>
                <a:ea typeface="Microsoft YaHei"/>
                <a:cs typeface="Microsoft YaHei"/>
              </a:rPr>
              <a:t>探索更实用、更可控的 AI 效率体验。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181344"/>
            <a:ext cx="10820095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Segoe UI"/>
                <a:ea typeface="Microsoft YaHei"/>
                <a:cs typeface="Microsoft YaHei"/>
              </a:rPr>
              <a:t>谢谢观看 · github.com/qiruixu/zhixu-workbench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